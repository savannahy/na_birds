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bf59a81dfbb4348" /><Relationship Type="http://schemas.openxmlformats.org/officeDocument/2006/relationships/extended-properties" Target="/docProps/app.xml" Id="R2389c2a4726148f9" /><Relationship Type="http://schemas.openxmlformats.org/officeDocument/2006/relationships/officeDocument" Target="/ppt/presentation.xml" Id="Rc21f7919e54946ae" /></Relationships>
</file>

<file path=ppt/presentation.xml><?xml version="1.0" encoding="utf-8"?>
<p:presentation xmlns:p="http://schemas.openxmlformats.org/presentationml/2006/main">
  <p:sldMasterIdLst>
    <p:sldMasterId xmlns:r="http://schemas.openxmlformats.org/officeDocument/2006/relationships" id="2147483648" r:id="R60bb71a25ca345bc"/>
  </p:sldMasterIdLst>
  <p:notesMasterIdLst>
    <p:notesMasterId xmlns:r="http://schemas.openxmlformats.org/officeDocument/2006/relationships" r:id="Rb7960ed6df394bf0"/>
  </p:notesMasterIdLst>
  <p:sldIdLst>
    <p:sldId xmlns:r="http://schemas.openxmlformats.org/officeDocument/2006/relationships" id="256" r:id="Re5bc179a79404164"/>
    <p:sldId xmlns:r="http://schemas.openxmlformats.org/officeDocument/2006/relationships" id="257" r:id="Rbd3d38dafdb74edd"/>
    <p:sldId xmlns:r="http://schemas.openxmlformats.org/officeDocument/2006/relationships" id="258" r:id="Rdb7c268a3c4b4b0e"/>
    <p:sldId xmlns:r="http://schemas.openxmlformats.org/officeDocument/2006/relationships" id="259" r:id="R1b673c6c5d45431e"/>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60bb71a25ca345bc" /><Relationship Type="http://schemas.openxmlformats.org/officeDocument/2006/relationships/theme" Target="/ppt/theme/theme1.xml" Id="R13a5bf5b52074d82" /><Relationship Type="http://schemas.openxmlformats.org/officeDocument/2006/relationships/notesMaster" Target="/ppt/notesMasters/notesMaster1.xml" Id="Rb7960ed6df394bf0" /><Relationship Type="http://schemas.openxmlformats.org/officeDocument/2006/relationships/presProps" Target="/ppt/presProps.xml" Id="R14d9027a8e184d71" /><Relationship Type="http://schemas.openxmlformats.org/officeDocument/2006/relationships/viewProps" Target="/ppt/viewProps.xml" Id="R205b66d1375e4130" /><Relationship Type="http://schemas.openxmlformats.org/officeDocument/2006/relationships/tableStyles" Target="/ppt/tableStyles.xml" Id="R6de9e3c3cf69446c" /><Relationship Type="http://schemas.openxmlformats.org/officeDocument/2006/relationships/slide" Target="/ppt/slides/slide1.xml" Id="Re5bc179a79404164" /><Relationship Type="http://schemas.openxmlformats.org/officeDocument/2006/relationships/slide" Target="/ppt/slides/slide2.xml" Id="Rbd3d38dafdb74edd" /><Relationship Type="http://schemas.openxmlformats.org/officeDocument/2006/relationships/slide" Target="/ppt/slides/slide3.xml" Id="Rdb7c268a3c4b4b0e" /><Relationship Type="http://schemas.openxmlformats.org/officeDocument/2006/relationships/slide" Target="/ppt/slides/slide4.xml" Id="R1b673c6c5d45431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ae2ac9ad995e4cd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d20bdbabb3b44f7" /><Relationship Type="http://schemas.openxmlformats.org/officeDocument/2006/relationships/notesMaster" Target="/ppt/notesMasters/notesMaster1.xml" Id="R2f73fc680d934ed7" /></Relationships>
</file>

<file path=ppt/notesSlides/_rels/notesSlide2.xml.rels>&#65279;<?xml version="1.0" encoding="utf-8"?><Relationships xmlns="http://schemas.openxmlformats.org/package/2006/relationships"><Relationship Type="http://schemas.openxmlformats.org/officeDocument/2006/relationships/slide" Target="/ppt/slides/slide2.xml" Id="R8bdfb84956bd49e7" /><Relationship Type="http://schemas.openxmlformats.org/officeDocument/2006/relationships/notesMaster" Target="/ppt/notesMasters/notesMaster1.xml" Id="R7e3857d668a543d9"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ec998bb8c54fa2" /><Relationship Type="http://schemas.openxmlformats.org/officeDocument/2006/relationships/notesMaster" Target="/ppt/notesMasters/notesMaster1.xml" Id="Rd196d23e8a2e4b4a" /></Relationships>
</file>

<file path=ppt/notesSlides/_rels/notesSlide4.xml.rels>&#65279;<?xml version="1.0" encoding="utf-8"?><Relationships xmlns="http://schemas.openxmlformats.org/package/2006/relationships"><Relationship Type="http://schemas.openxmlformats.org/officeDocument/2006/relationships/slide" Target="/ppt/slides/slide4.xml" Id="R72b07d3dab804191" /><Relationship Type="http://schemas.openxmlformats.org/officeDocument/2006/relationships/notesMaster" Target="/ppt/notesMasters/notesMaster1.xml" Id="R2615e47a3f0149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this as evidence that the evaluation path is now real. The visual model remains the performance anchor. CLIP is the useful text-side baseline; the SigLIP2 HF run is included transparently but appears non-informative and needs follow-up debugging.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key correction from the initial plan is that we do not split male, female, juvenile, breeding, or nonbreeding labels into new classes. The prompt carries the variant distinction while the target space remains official NABirds.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should be read as evidence for the next data cleanup step. The model is not random; its top failures are exactly the label distinctions that require fine-grained field 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recommendation is to stay lightweight: exploit cached embeddings first, use a residual adapter, and defer LoRA or full model fine-tuning until the descriptor set has been cleaned.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b0533f86daa4e3f"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5001d7e8bbf346c8" /><Relationship Type="http://schemas.openxmlformats.org/officeDocument/2006/relationships/slideLayout" Target="/ppt/slideLayouts/slideLayout2.xml" Id="Rba3d955783f448c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a3d955783f448c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22b0e06494a14eeb" /><Relationship Type="http://schemas.openxmlformats.org/officeDocument/2006/relationships/image" Target="/ppt/media/image.png" Id="R6d0b8477df1d4cbf" /><Relationship Type="http://schemas.openxmlformats.org/officeDocument/2006/relationships/notesSlide" Target="/ppt/notesSlides/notesSlide1.xml" Id="Reef2ac573c864a0c"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1287fb781eaa462b" /><Relationship Type="http://schemas.openxmlformats.org/officeDocument/2006/relationships/image" Target="/ppt/media/image2.png" Id="R612ada42763a4442" /><Relationship Type="http://schemas.openxmlformats.org/officeDocument/2006/relationships/image" Target="/ppt/media/image.svg" Id="Rba3338bc378846f7" /><Relationship Type="http://schemas.openxmlformats.org/officeDocument/2006/relationships/notesSlide" Target="/ppt/notesSlides/notesSlide2.xml" Id="R49cb14abaf5948c6"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ce984ba3bcaf431c" /><Relationship Type="http://schemas.openxmlformats.org/officeDocument/2006/relationships/image" Target="/ppt/media/image3.png" Id="Rae280fd42f5c494d" /><Relationship Type="http://schemas.openxmlformats.org/officeDocument/2006/relationships/image" Target="/ppt/media/image4.png" Id="R8e8a2708d8234ff3" /><Relationship Type="http://schemas.openxmlformats.org/officeDocument/2006/relationships/notesSlide" Target="/ppt/notesSlides/notesSlide3.xml" Id="Rf7a8fb644de14bd2"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18d42d56ad264668" /><Relationship Type="http://schemas.openxmlformats.org/officeDocument/2006/relationships/image" Target="/ppt/media/image5.png" Id="R5d721eb7fc494977" /><Relationship Type="http://schemas.openxmlformats.org/officeDocument/2006/relationships/image" Target="/ppt/media/image2.svg" Id="R2cdaf18038ef4339" /><Relationship Type="http://schemas.openxmlformats.org/officeDocument/2006/relationships/image" Target="/ppt/media/image6.png" Id="R595d8d5c18714def" /><Relationship Type="http://schemas.openxmlformats.org/officeDocument/2006/relationships/image" Target="/ppt/media/image3.svg" Id="R1bebc7225af84ac4" /><Relationship Type="http://schemas.openxmlformats.org/officeDocument/2006/relationships/image" Target="/ppt/media/image7.png" Id="R91d0788cd0894a22" /><Relationship Type="http://schemas.openxmlformats.org/officeDocument/2006/relationships/image" Target="/ppt/media/image4.svg" Id="R42d4dc977d2d485e" /><Relationship Type="http://schemas.openxmlformats.org/officeDocument/2006/relationships/image" Target="/ppt/media/image8.png" Id="Rbb3aed509eac42ee" /><Relationship Type="http://schemas.openxmlformats.org/officeDocument/2006/relationships/image" Target="/ppt/media/image5.svg" Id="R86d3e18cc89b4737" /><Relationship Type="http://schemas.openxmlformats.org/officeDocument/2006/relationships/image" Target="/ppt/media/image9.png" Id="Rd97e81a4c27e4b6f" /><Relationship Type="http://schemas.openxmlformats.org/officeDocument/2006/relationships/image" Target="/ppt/media/image6.svg" Id="R35711ec3d51d4d01" /><Relationship Type="http://schemas.openxmlformats.org/officeDocument/2006/relationships/image" Target="/ppt/media/image10.png" Id="Re3f03dccbf634cfe" /><Relationship Type="http://schemas.openxmlformats.org/officeDocument/2006/relationships/image" Target="/ppt/media/image7.svg" Id="R6d46176a7e094055" /><Relationship Type="http://schemas.openxmlformats.org/officeDocument/2006/relationships/notesSlide" Target="/ppt/notesSlides/notesSlide4.xml" Id="R7d2dd57d4aee4ef8" /></Relationships>
</file>

<file path=ppt/slides/slide1.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8BA0931-C52D-4285-B395-7D1A9DAE6419}"/>
              </a:ext>
            </a:extLst>
          </p:cNvPr>
          <p:cNvSpPr>
            <a:spLocks xmlns:a="http://schemas.openxmlformats.org/drawingml/2006/main" noGrp="1"/>
          </p:cNvSpPr>
          <p:nvPr/>
        </p:nvSpPr>
        <p:spPr>
          <a:xfrm xmlns:a="http://schemas.openxmlformats.org/drawingml/2006/main">
            <a:off x="514350" y="304800"/>
            <a:ext cx="5334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E5558"/>
                </a:solidFill>
                <a:latin typeface="Aptos"/>
                <a:ea typeface="Aptos"/>
                <a:cs typeface="Aptos"/>
              </a:defRPr>
            </a:pPr>
            <a:r>
              <a:rPr sz="900" b="1">
                <a:solidFill>
                  <a:srgbClr val="0E5558"/>
                </a:solidFill>
                <a:latin typeface="Aptos"/>
                <a:ea typeface="Aptos"/>
                <a:cs typeface="Aptos"/>
              </a:rPr>
              <a:t>MILESTONE 3 PRELIMINARY RESULTS</a:t>
            </a:r>
          </a:p>
        </p:txBody>
      </p:sp>
      <p:sp>
        <p:nvSpPr>
          <p:cNvPr id="2" name="">
            <a:extLst xmlns:a="http://schemas.openxmlformats.org/drawingml/2006/main">
              <a:ext uri="{FF2B5EF4-FFF2-40B4-BE49-F238E27FC236}">
                <a16:creationId xmlns:a16="http://schemas.microsoft.com/office/drawing/2014/main" id="{EA7FAB8A-025F-4F76-9C5F-4BBA32997933}"/>
              </a:ext>
            </a:extLst>
          </p:cNvPr>
          <p:cNvSpPr>
            <a:spLocks xmlns:a="http://schemas.openxmlformats.org/drawingml/2006/main" noGrp="1"/>
          </p:cNvSpPr>
          <p:nvPr/>
        </p:nvSpPr>
        <p:spPr>
          <a:xfrm xmlns:a="http://schemas.openxmlformats.org/drawingml/2006/main">
            <a:off x="514350" y="552450"/>
            <a:ext cx="94297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6211F"/>
                </a:solidFill>
                <a:latin typeface="Aptos Display"/>
                <a:ea typeface="Aptos Display"/>
                <a:cs typeface="Aptos Display"/>
              </a:defRPr>
            </a:pPr>
            <a:r>
              <a:rPr sz="2175" b="1">
                <a:solidFill>
                  <a:srgbClr val="16211F"/>
                </a:solidFill>
                <a:latin typeface="Aptos Display"/>
                <a:ea typeface="Aptos Display"/>
                <a:cs typeface="Aptos Display"/>
              </a:rPr>
              <a:t>Visual branch is strong; VLM baselines expose the text-grounding gap</a:t>
            </a:r>
          </a:p>
        </p:txBody>
      </p:sp>
      <p:sp>
        <p:nvSpPr>
          <p:cNvPr id="3" name="">
            <a:extLst xmlns:a="http://schemas.openxmlformats.org/drawingml/2006/main">
              <a:ext uri="{FF2B5EF4-FFF2-40B4-BE49-F238E27FC236}">
                <a16:creationId xmlns:a16="http://schemas.microsoft.com/office/drawing/2014/main" id="{B6C54BAF-219C-477B-8F68-CE9A7F33D6CF}"/>
              </a:ext>
            </a:extLst>
          </p:cNvPr>
          <p:cNvSpPr>
            <a:spLocks xmlns:a="http://schemas.openxmlformats.org/drawingml/2006/main" noGrp="1"/>
          </p:cNvSpPr>
          <p:nvPr/>
        </p:nvSpPr>
        <p:spPr>
          <a:xfrm xmlns:a="http://schemas.openxmlformats.org/drawingml/2006/main">
            <a:off x="533400" y="1257300"/>
            <a:ext cx="90487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0">
                <a:solidFill>
                  <a:srgbClr val="5D6661"/>
                </a:solidFill>
                <a:latin typeface="Aptos"/>
                <a:ea typeface="Aptos"/>
                <a:cs typeface="Aptos"/>
              </a:defRPr>
            </a:pPr>
            <a:r>
              <a:rPr sz="1163" b="0">
                <a:solidFill>
                  <a:srgbClr val="5D6661"/>
                </a:solidFill>
                <a:latin typeface="Aptos"/>
                <a:ea typeface="Aptos"/>
                <a:cs typeface="Aptos"/>
              </a:rPr>
              <a:t>Official 555-class NABirds test results now include cached zero-shot CLIP and SigLIP2 baselines alongside the visual models.</a:t>
            </a:r>
          </a:p>
        </p:txBody>
      </p:sp>
      <p:sp>
        <p:nvSpPr>
          <p:cNvPr id="4" name="">
            <a:extLst xmlns:a="http://schemas.openxmlformats.org/drawingml/2006/main">
              <a:ext uri="{FF2B5EF4-FFF2-40B4-BE49-F238E27FC236}">
                <a16:creationId xmlns:a16="http://schemas.microsoft.com/office/drawing/2014/main" id="{22472C67-BF29-47ED-AF7A-EC27B0D50B3F}"/>
              </a:ext>
            </a:extLst>
          </p:cNvPr>
          <p:cNvSpPr>
            <a:spLocks xmlns:a="http://schemas.openxmlformats.org/drawingml/2006/main" noGrp="1"/>
          </p:cNvSpPr>
          <p:nvPr/>
        </p:nvSpPr>
        <p:spPr>
          <a:xfrm xmlns:a="http://schemas.openxmlformats.org/drawingml/2006/main">
            <a:off x="514350" y="1619250"/>
            <a:ext cx="2381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0E4DC"/>
            </a:solidFill>
            <a:prstDash val="solid"/>
          </a:ln>
        </p:spPr>
      </p:sp>
      <p:sp>
        <p:nvSpPr>
          <p:cNvPr id="5" name="">
            <a:extLst xmlns:a="http://schemas.openxmlformats.org/drawingml/2006/main">
              <a:ext uri="{FF2B5EF4-FFF2-40B4-BE49-F238E27FC236}">
                <a16:creationId xmlns:a16="http://schemas.microsoft.com/office/drawing/2014/main" id="{81EEF8E4-0377-4F03-B962-526ABBE09990}"/>
              </a:ext>
            </a:extLst>
          </p:cNvPr>
          <p:cNvSpPr>
            <a:spLocks xmlns:a="http://schemas.openxmlformats.org/drawingml/2006/main" noGrp="1"/>
          </p:cNvSpPr>
          <p:nvPr/>
        </p:nvSpPr>
        <p:spPr>
          <a:xfrm xmlns:a="http://schemas.openxmlformats.org/drawingml/2006/main">
            <a:off x="647700" y="1714500"/>
            <a:ext cx="21145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C66A2B"/>
                </a:solidFill>
                <a:latin typeface="Aptos Display"/>
                <a:ea typeface="Aptos Display"/>
                <a:cs typeface="Aptos Display"/>
              </a:defRPr>
            </a:pPr>
            <a:r>
              <a:rPr sz="1950" b="1">
                <a:solidFill>
                  <a:srgbClr val="C66A2B"/>
                </a:solidFill>
                <a:latin typeface="Aptos Display"/>
                <a:ea typeface="Aptos Display"/>
                <a:cs typeface="Aptos Display"/>
              </a:rPr>
              <a:t>91.0%</a:t>
            </a:r>
          </a:p>
        </p:txBody>
      </p:sp>
      <p:sp>
        <p:nvSpPr>
          <p:cNvPr id="6" name="">
            <a:extLst xmlns:a="http://schemas.openxmlformats.org/drawingml/2006/main">
              <a:ext uri="{FF2B5EF4-FFF2-40B4-BE49-F238E27FC236}">
                <a16:creationId xmlns:a16="http://schemas.microsoft.com/office/drawing/2014/main" id="{8FD70A6C-857F-466D-8BA0-67A35D289F88}"/>
              </a:ext>
            </a:extLst>
          </p:cNvPr>
          <p:cNvSpPr>
            <a:spLocks xmlns:a="http://schemas.openxmlformats.org/drawingml/2006/main" noGrp="1"/>
          </p:cNvSpPr>
          <p:nvPr/>
        </p:nvSpPr>
        <p:spPr>
          <a:xfrm xmlns:a="http://schemas.openxmlformats.org/drawingml/2006/main">
            <a:off x="647700" y="2028825"/>
            <a:ext cx="2114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5D6661"/>
                </a:solidFill>
                <a:latin typeface="Aptos"/>
                <a:ea typeface="Aptos"/>
                <a:cs typeface="Aptos"/>
              </a:defRPr>
            </a:pPr>
            <a:r>
              <a:rPr sz="863" b="0">
                <a:solidFill>
                  <a:srgbClr val="5D6661"/>
                </a:solidFill>
                <a:latin typeface="Aptos"/>
                <a:ea typeface="Aptos"/>
                <a:cs typeface="Aptos"/>
              </a:rPr>
              <a:t>custom ConvNeXt-B 5-view top-1</a:t>
            </a:r>
          </a:p>
        </p:txBody>
      </p:sp>
      <p:sp>
        <p:nvSpPr>
          <p:cNvPr id="7" name="">
            <a:extLst xmlns:a="http://schemas.openxmlformats.org/drawingml/2006/main">
              <a:ext uri="{FF2B5EF4-FFF2-40B4-BE49-F238E27FC236}">
                <a16:creationId xmlns:a16="http://schemas.microsoft.com/office/drawing/2014/main" id="{CF1A3B2F-C491-45E7-8D3C-2C70C25F7110}"/>
              </a:ext>
            </a:extLst>
          </p:cNvPr>
          <p:cNvSpPr>
            <a:spLocks xmlns:a="http://schemas.openxmlformats.org/drawingml/2006/main" noGrp="1"/>
          </p:cNvSpPr>
          <p:nvPr/>
        </p:nvSpPr>
        <p:spPr>
          <a:xfrm xmlns:a="http://schemas.openxmlformats.org/drawingml/2006/main">
            <a:off x="514350" y="2495550"/>
            <a:ext cx="2381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0E4DC"/>
            </a:solidFill>
            <a:prstDash val="solid"/>
          </a:ln>
        </p:spPr>
      </p:sp>
      <p:sp>
        <p:nvSpPr>
          <p:cNvPr id="8" name="">
            <a:extLst xmlns:a="http://schemas.openxmlformats.org/drawingml/2006/main">
              <a:ext uri="{FF2B5EF4-FFF2-40B4-BE49-F238E27FC236}">
                <a16:creationId xmlns:a16="http://schemas.microsoft.com/office/drawing/2014/main" id="{89543191-2B6C-419B-A7D1-1B81985FD634}"/>
              </a:ext>
            </a:extLst>
          </p:cNvPr>
          <p:cNvSpPr>
            <a:spLocks xmlns:a="http://schemas.openxmlformats.org/drawingml/2006/main" noGrp="1"/>
          </p:cNvSpPr>
          <p:nvPr/>
        </p:nvSpPr>
        <p:spPr>
          <a:xfrm xmlns:a="http://schemas.openxmlformats.org/drawingml/2006/main">
            <a:off x="647700" y="2590800"/>
            <a:ext cx="21145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67C80"/>
                </a:solidFill>
                <a:latin typeface="Aptos Display"/>
                <a:ea typeface="Aptos Display"/>
                <a:cs typeface="Aptos Display"/>
              </a:defRPr>
            </a:pPr>
            <a:r>
              <a:rPr sz="1950" b="1">
                <a:solidFill>
                  <a:srgbClr val="167C80"/>
                </a:solidFill>
                <a:latin typeface="Aptos Display"/>
                <a:ea typeface="Aptos Display"/>
                <a:cs typeface="Aptos Display"/>
              </a:rPr>
              <a:t>40.3%</a:t>
            </a:r>
          </a:p>
        </p:txBody>
      </p:sp>
      <p:sp>
        <p:nvSpPr>
          <p:cNvPr id="9" name="">
            <a:extLst xmlns:a="http://schemas.openxmlformats.org/drawingml/2006/main">
              <a:ext uri="{FF2B5EF4-FFF2-40B4-BE49-F238E27FC236}">
                <a16:creationId xmlns:a16="http://schemas.microsoft.com/office/drawing/2014/main" id="{68656F3A-7310-4ECC-8185-F3EE449396DB}"/>
              </a:ext>
            </a:extLst>
          </p:cNvPr>
          <p:cNvSpPr>
            <a:spLocks xmlns:a="http://schemas.openxmlformats.org/drawingml/2006/main" noGrp="1"/>
          </p:cNvSpPr>
          <p:nvPr/>
        </p:nvSpPr>
        <p:spPr>
          <a:xfrm xmlns:a="http://schemas.openxmlformats.org/drawingml/2006/main">
            <a:off x="647700" y="2905125"/>
            <a:ext cx="2114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5D6661"/>
                </a:solidFill>
                <a:latin typeface="Aptos"/>
                <a:ea typeface="Aptos"/>
                <a:cs typeface="Aptos"/>
              </a:defRPr>
            </a:pPr>
            <a:r>
              <a:rPr sz="863" b="0">
                <a:solidFill>
                  <a:srgbClr val="5D6661"/>
                </a:solidFill>
                <a:latin typeface="Aptos"/>
                <a:ea typeface="Aptos"/>
                <a:cs typeface="Aptos"/>
              </a:rPr>
              <a:t>CLIP ViT-B/32 generic prompt top-1</a:t>
            </a:r>
          </a:p>
        </p:txBody>
      </p:sp>
      <p:sp>
        <p:nvSpPr>
          <p:cNvPr id="10" name="">
            <a:extLst xmlns:a="http://schemas.openxmlformats.org/drawingml/2006/main">
              <a:ext uri="{FF2B5EF4-FFF2-40B4-BE49-F238E27FC236}">
                <a16:creationId xmlns:a16="http://schemas.microsoft.com/office/drawing/2014/main" id="{47D6BA03-1A36-4439-93E0-5AEA97B5C023}"/>
              </a:ext>
            </a:extLst>
          </p:cNvPr>
          <p:cNvSpPr>
            <a:spLocks xmlns:a="http://schemas.openxmlformats.org/drawingml/2006/main" noGrp="1"/>
          </p:cNvSpPr>
          <p:nvPr/>
        </p:nvSpPr>
        <p:spPr>
          <a:xfrm xmlns:a="http://schemas.openxmlformats.org/drawingml/2006/main">
            <a:off x="514350" y="3371850"/>
            <a:ext cx="2381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0E4DC"/>
            </a:solidFill>
            <a:prstDash val="solid"/>
          </a:ln>
        </p:spPr>
      </p:sp>
      <p:sp>
        <p:nvSpPr>
          <p:cNvPr id="11" name="">
            <a:extLst xmlns:a="http://schemas.openxmlformats.org/drawingml/2006/main">
              <a:ext uri="{FF2B5EF4-FFF2-40B4-BE49-F238E27FC236}">
                <a16:creationId xmlns:a16="http://schemas.microsoft.com/office/drawing/2014/main" id="{B3FCBB24-BC39-4CF1-8FA1-0D1A32EAFA95}"/>
              </a:ext>
            </a:extLst>
          </p:cNvPr>
          <p:cNvSpPr>
            <a:spLocks xmlns:a="http://schemas.openxmlformats.org/drawingml/2006/main" noGrp="1"/>
          </p:cNvSpPr>
          <p:nvPr/>
        </p:nvSpPr>
        <p:spPr>
          <a:xfrm xmlns:a="http://schemas.openxmlformats.org/drawingml/2006/main">
            <a:off x="647700" y="3467100"/>
            <a:ext cx="21145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B44E62"/>
                </a:solidFill>
                <a:latin typeface="Aptos Display"/>
                <a:ea typeface="Aptos Display"/>
                <a:cs typeface="Aptos Display"/>
              </a:defRPr>
            </a:pPr>
            <a:r>
              <a:rPr sz="1950" b="1">
                <a:solidFill>
                  <a:srgbClr val="B44E62"/>
                </a:solidFill>
                <a:latin typeface="Aptos Display"/>
                <a:ea typeface="Aptos Display"/>
                <a:cs typeface="Aptos Display"/>
              </a:rPr>
              <a:t>37.7%</a:t>
            </a:r>
          </a:p>
        </p:txBody>
      </p:sp>
      <p:sp>
        <p:nvSpPr>
          <p:cNvPr id="12" name="">
            <a:extLst xmlns:a="http://schemas.openxmlformats.org/drawingml/2006/main">
              <a:ext uri="{FF2B5EF4-FFF2-40B4-BE49-F238E27FC236}">
                <a16:creationId xmlns:a16="http://schemas.microsoft.com/office/drawing/2014/main" id="{40D94FDC-18BB-460D-86A2-4A531A48B868}"/>
              </a:ext>
            </a:extLst>
          </p:cNvPr>
          <p:cNvSpPr>
            <a:spLocks xmlns:a="http://schemas.openxmlformats.org/drawingml/2006/main" noGrp="1"/>
          </p:cNvSpPr>
          <p:nvPr/>
        </p:nvSpPr>
        <p:spPr>
          <a:xfrm xmlns:a="http://schemas.openxmlformats.org/drawingml/2006/main">
            <a:off x="647700" y="3781425"/>
            <a:ext cx="2114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5D6661"/>
                </a:solidFill>
                <a:latin typeface="Aptos"/>
                <a:ea typeface="Aptos"/>
                <a:cs typeface="Aptos"/>
              </a:defRPr>
            </a:pPr>
            <a:r>
              <a:rPr sz="863" b="0">
                <a:solidFill>
                  <a:srgbClr val="5D6661"/>
                </a:solidFill>
                <a:latin typeface="Aptos"/>
                <a:ea typeface="Aptos"/>
                <a:cs typeface="Aptos"/>
              </a:rPr>
              <a:t>CLIP descriptor prompt top-1</a:t>
            </a:r>
          </a:p>
        </p:txBody>
      </p:sp>
      <p:sp>
        <p:nvSpPr>
          <p:cNvPr id="13" name="">
            <a:extLst xmlns:a="http://schemas.openxmlformats.org/drawingml/2006/main">
              <a:ext uri="{FF2B5EF4-FFF2-40B4-BE49-F238E27FC236}">
                <a16:creationId xmlns:a16="http://schemas.microsoft.com/office/drawing/2014/main" id="{2BAE4B1F-4F2D-4082-A19C-F32BE77D9264}"/>
              </a:ext>
            </a:extLst>
          </p:cNvPr>
          <p:cNvSpPr>
            <a:spLocks xmlns:a="http://schemas.openxmlformats.org/drawingml/2006/main" noGrp="1"/>
          </p:cNvSpPr>
          <p:nvPr/>
        </p:nvSpPr>
        <p:spPr>
          <a:xfrm xmlns:a="http://schemas.openxmlformats.org/drawingml/2006/main">
            <a:off x="514350" y="4248150"/>
            <a:ext cx="2381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0E4DC"/>
            </a:solidFill>
            <a:prstDash val="solid"/>
          </a:ln>
        </p:spPr>
      </p:sp>
      <p:sp>
        <p:nvSpPr>
          <p:cNvPr id="14" name="">
            <a:extLst xmlns:a="http://schemas.openxmlformats.org/drawingml/2006/main">
              <a:ext uri="{FF2B5EF4-FFF2-40B4-BE49-F238E27FC236}">
                <a16:creationId xmlns:a16="http://schemas.microsoft.com/office/drawing/2014/main" id="{8BCD1D24-5D9C-48C5-A822-CC6C071363C0}"/>
              </a:ext>
            </a:extLst>
          </p:cNvPr>
          <p:cNvSpPr>
            <a:spLocks xmlns:a="http://schemas.openxmlformats.org/drawingml/2006/main" noGrp="1"/>
          </p:cNvSpPr>
          <p:nvPr/>
        </p:nvSpPr>
        <p:spPr>
          <a:xfrm xmlns:a="http://schemas.openxmlformats.org/drawingml/2006/main">
            <a:off x="647700" y="4343400"/>
            <a:ext cx="21145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B44E62"/>
                </a:solidFill>
                <a:latin typeface="Aptos Display"/>
                <a:ea typeface="Aptos Display"/>
                <a:cs typeface="Aptos Display"/>
              </a:defRPr>
            </a:pPr>
            <a:r>
              <a:rPr sz="1950" b="1">
                <a:solidFill>
                  <a:srgbClr val="B44E62"/>
                </a:solidFill>
                <a:latin typeface="Aptos Display"/>
                <a:ea typeface="Aptos Display"/>
                <a:cs typeface="Aptos Display"/>
              </a:rPr>
              <a:t>-2.6 pt</a:t>
            </a:r>
          </a:p>
        </p:txBody>
      </p:sp>
      <p:sp>
        <p:nvSpPr>
          <p:cNvPr id="15" name="">
            <a:extLst xmlns:a="http://schemas.openxmlformats.org/drawingml/2006/main">
              <a:ext uri="{FF2B5EF4-FFF2-40B4-BE49-F238E27FC236}">
                <a16:creationId xmlns:a16="http://schemas.microsoft.com/office/drawing/2014/main" id="{229DD304-0FC2-4FD2-B36B-F9B08DC3EBF2}"/>
              </a:ext>
            </a:extLst>
          </p:cNvPr>
          <p:cNvSpPr>
            <a:spLocks xmlns:a="http://schemas.openxmlformats.org/drawingml/2006/main" noGrp="1"/>
          </p:cNvSpPr>
          <p:nvPr/>
        </p:nvSpPr>
        <p:spPr>
          <a:xfrm xmlns:a="http://schemas.openxmlformats.org/drawingml/2006/main">
            <a:off x="647700" y="4657725"/>
            <a:ext cx="2114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5D6661"/>
                </a:solidFill>
                <a:latin typeface="Aptos"/>
                <a:ea typeface="Aptos"/>
                <a:cs typeface="Aptos"/>
              </a:defRPr>
            </a:pPr>
            <a:r>
              <a:rPr sz="863" b="0">
                <a:solidFill>
                  <a:srgbClr val="5D6661"/>
                </a:solidFill>
                <a:latin typeface="Aptos"/>
                <a:ea typeface="Aptos"/>
                <a:cs typeface="Aptos"/>
              </a:rPr>
              <a:t>descriptor prompt delta vs generic CLIP</a:t>
            </a:r>
          </a:p>
        </p:txBody>
      </p:sp>
      <p:sp>
        <p:nvSpPr>
          <p:cNvPr id="16" name="">
            <a:extLst xmlns:a="http://schemas.openxmlformats.org/drawingml/2006/main">
              <a:ext uri="{FF2B5EF4-FFF2-40B4-BE49-F238E27FC236}">
                <a16:creationId xmlns:a16="http://schemas.microsoft.com/office/drawing/2014/main" id="{BE2B40CD-A4A0-4DA4-AB42-D8A6968A1675}"/>
              </a:ext>
            </a:extLst>
          </p:cNvPr>
          <p:cNvSpPr>
            <a:spLocks xmlns:a="http://schemas.openxmlformats.org/drawingml/2006/main" noGrp="1"/>
          </p:cNvSpPr>
          <p:nvPr/>
        </p:nvSpPr>
        <p:spPr>
          <a:xfrm xmlns:a="http://schemas.openxmlformats.org/drawingml/2006/main">
            <a:off x="514350" y="5162550"/>
            <a:ext cx="2381250" cy="914400"/>
          </a:xfrm>
          <a:prstGeom xmlns:a="http://schemas.openxmlformats.org/drawingml/2006/main" prst="rect">
            <a:avLst/>
          </a:prstGeom>
          <a:solidFill xmlns:a="http://schemas.openxmlformats.org/drawingml/2006/main">
            <a:srgbClr val="FFFFFF"/>
          </a:solidFill>
          <a:ln xmlns:a="http://schemas.openxmlformats.org/drawingml/2006/main" w="9525">
            <a:solidFill>
              <a:srgbClr val="E0E4DC"/>
            </a:solidFill>
            <a:prstDash val="solid"/>
          </a:ln>
        </p:spPr>
      </p:sp>
      <p:sp>
        <p:nvSpPr>
          <p:cNvPr id="17" name="">
            <a:extLst xmlns:a="http://schemas.openxmlformats.org/drawingml/2006/main">
              <a:ext uri="{FF2B5EF4-FFF2-40B4-BE49-F238E27FC236}">
                <a16:creationId xmlns:a16="http://schemas.microsoft.com/office/drawing/2014/main" id="{1C4FD36A-80C1-4A17-BCD1-FE089BBC57B3}"/>
              </a:ext>
            </a:extLst>
          </p:cNvPr>
          <p:cNvSpPr>
            <a:spLocks xmlns:a="http://schemas.openxmlformats.org/drawingml/2006/main" noGrp="1"/>
          </p:cNvSpPr>
          <p:nvPr/>
        </p:nvSpPr>
        <p:spPr>
          <a:xfrm xmlns:a="http://schemas.openxmlformats.org/drawingml/2006/main">
            <a:off x="647700" y="5276850"/>
            <a:ext cx="211455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90" b="1">
                <a:solidFill>
                  <a:srgbClr val="16211F"/>
                </a:solidFill>
                <a:latin typeface="Aptos"/>
                <a:ea typeface="Aptos"/>
                <a:cs typeface="Aptos"/>
              </a:defRPr>
            </a:pPr>
            <a:r>
              <a:rPr sz="990" b="1">
                <a:solidFill>
                  <a:srgbClr val="16211F"/>
                </a:solidFill>
                <a:latin typeface="Aptos"/>
                <a:ea typeface="Aptos"/>
                <a:cs typeface="Aptos"/>
              </a:rPr>
              <a:t>Takeaway: zero-shot text grounding is measurable, but not yet competitive with the visual branch. Descriptors need cleanup before they help CLIP.</a:t>
            </a:r>
          </a:p>
        </p:txBody>
      </p:sp>
      <p:sp>
        <p:nvSpPr>
          <p:cNvPr id="18" name="">
            <a:extLst xmlns:a="http://schemas.openxmlformats.org/drawingml/2006/main">
              <a:ext uri="{FF2B5EF4-FFF2-40B4-BE49-F238E27FC236}">
                <a16:creationId xmlns:a16="http://schemas.microsoft.com/office/drawing/2014/main" id="{E2B5CC94-4E07-4203-B673-E6CD44AFE080}"/>
              </a:ext>
            </a:extLst>
          </p:cNvPr>
          <p:cNvSpPr>
            <a:spLocks xmlns:a="http://schemas.openxmlformats.org/drawingml/2006/main" noGrp="1"/>
          </p:cNvSpPr>
          <p:nvPr/>
        </p:nvSpPr>
        <p:spPr>
          <a:xfrm xmlns:a="http://schemas.openxmlformats.org/drawingml/2006/main">
            <a:off x="3219450" y="1600200"/>
            <a:ext cx="8420100" cy="4476750"/>
          </a:xfrm>
          <a:prstGeom xmlns:a="http://schemas.openxmlformats.org/drawingml/2006/main" prst="rect">
            <a:avLst/>
          </a:prstGeom>
          <a:solidFill xmlns:a="http://schemas.openxmlformats.org/drawingml/2006/main">
            <a:srgbClr val="FFFFFF"/>
          </a:solidFill>
          <a:ln xmlns:a="http://schemas.openxmlformats.org/drawingml/2006/main" w="9525">
            <a:solidFill>
              <a:srgbClr val="E0E4DC"/>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d0b8477df1d4cbf"/>
          <a:stretch xmlns:a="http://schemas.openxmlformats.org/drawingml/2006/main"/>
        </p:blipFill>
        <p:spPr>
          <a:xfrm xmlns:a="http://schemas.openxmlformats.org/drawingml/2006/main">
            <a:off x="3631010" y="1771650"/>
            <a:ext cx="7596980" cy="390525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4BC9F13D-FAD9-475D-8923-D5A41BA1DF2D}"/>
              </a:ext>
            </a:extLst>
          </p:cNvPr>
          <p:cNvSpPr>
            <a:spLocks xmlns:a="http://schemas.openxmlformats.org/drawingml/2006/main" noGrp="1"/>
          </p:cNvSpPr>
          <p:nvPr/>
        </p:nvSpPr>
        <p:spPr>
          <a:xfrm xmlns:a="http://schemas.openxmlformats.org/drawingml/2006/main">
            <a:off x="3524250" y="5753100"/>
            <a:ext cx="7429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5D6661"/>
                </a:solidFill>
                <a:latin typeface="Aptos"/>
                <a:ea typeface="Aptos"/>
                <a:cs typeface="Aptos"/>
              </a:defRPr>
            </a:pPr>
            <a:r>
              <a:rPr sz="975" b="1">
                <a:solidFill>
                  <a:srgbClr val="5D6661"/>
                </a:solidFill>
                <a:latin typeface="Aptos"/>
                <a:ea typeface="Aptos"/>
                <a:cs typeface="Aptos"/>
              </a:rPr>
              <a:t>Baseline comparison uses the same official 24,633-image test split.</a:t>
            </a:r>
          </a:p>
        </p:txBody>
      </p:sp>
      <p:sp>
        <p:nvSpPr>
          <p:cNvPr id="21" name="">
            <a:extLst xmlns:a="http://schemas.openxmlformats.org/drawingml/2006/main">
              <a:ext uri="{FF2B5EF4-FFF2-40B4-BE49-F238E27FC236}">
                <a16:creationId xmlns:a16="http://schemas.microsoft.com/office/drawing/2014/main" id="{29273736-89B1-42B8-B2EA-79E5619F712F}"/>
              </a:ext>
            </a:extLst>
          </p:cNvPr>
          <p:cNvSpPr>
            <a:spLocks xmlns:a="http://schemas.openxmlformats.org/drawingml/2006/main" noGrp="1"/>
          </p:cNvSpPr>
          <p:nvPr/>
        </p:nvSpPr>
        <p:spPr>
          <a:xfrm xmlns:a="http://schemas.openxmlformats.org/drawingml/2006/main">
            <a:off x="514350" y="6534150"/>
            <a:ext cx="10477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78817B"/>
                </a:solidFill>
                <a:latin typeface="Aptos"/>
                <a:ea typeface="Aptos"/>
                <a:cs typeface="Aptos"/>
              </a:defRPr>
            </a:pPr>
            <a:r>
              <a:rPr sz="713" b="0">
                <a:solidFill>
                  <a:srgbClr val="78817B"/>
                </a:solidFill>
                <a:latin typeface="Aptos"/>
                <a:ea typeface="Aptos"/>
                <a:cs typeface="Aptos"/>
              </a:rPr>
              <a:t>Sources: milestone2 official visual analyses; milestone3 cached CLIP/SigLIP2 eval JSONs; image/text features saved on Modal volume.</a:t>
            </a:r>
          </a:p>
        </p:txBody>
      </p:sp>
    </p:spTree>
    <p:extLst>
      <p:ext uri="{BB962C8B-B14F-4D97-AF65-F5344CB8AC3E}">
        <p14:creationId xmlns:p14="http://schemas.microsoft.com/office/powerpoint/2010/main" val="846535217"/>
      </p:ext>
    </p:extLst>
  </p:cSld>
</p:sld>
</file>

<file path=ppt/slides/slide2.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D891E14-7D7D-471A-8172-99E9DF847C23}"/>
              </a:ext>
            </a:extLst>
          </p:cNvPr>
          <p:cNvSpPr>
            <a:spLocks xmlns:a="http://schemas.openxmlformats.org/drawingml/2006/main" noGrp="1"/>
          </p:cNvSpPr>
          <p:nvPr/>
        </p:nvSpPr>
        <p:spPr>
          <a:xfrm xmlns:a="http://schemas.openxmlformats.org/drawingml/2006/main">
            <a:off x="514350" y="304800"/>
            <a:ext cx="5334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E5558"/>
                </a:solidFill>
                <a:latin typeface="Aptos"/>
                <a:ea typeface="Aptos"/>
                <a:cs typeface="Aptos"/>
              </a:defRPr>
            </a:pPr>
            <a:r>
              <a:rPr sz="900" b="1">
                <a:solidFill>
                  <a:srgbClr val="0E5558"/>
                </a:solidFill>
                <a:latin typeface="Aptos"/>
                <a:ea typeface="Aptos"/>
                <a:cs typeface="Aptos"/>
              </a:rPr>
              <a:t>CLIP/SIGLIP EVALUATION SETUP</a:t>
            </a:r>
          </a:p>
        </p:txBody>
      </p:sp>
      <p:sp>
        <p:nvSpPr>
          <p:cNvPr id="2" name="">
            <a:extLst xmlns:a="http://schemas.openxmlformats.org/drawingml/2006/main">
              <a:ext uri="{FF2B5EF4-FFF2-40B4-BE49-F238E27FC236}">
                <a16:creationId xmlns:a16="http://schemas.microsoft.com/office/drawing/2014/main" id="{C4B6F415-862F-41AB-8FA4-52E57F897F69}"/>
              </a:ext>
            </a:extLst>
          </p:cNvPr>
          <p:cNvSpPr>
            <a:spLocks xmlns:a="http://schemas.openxmlformats.org/drawingml/2006/main" noGrp="1"/>
          </p:cNvSpPr>
          <p:nvPr/>
        </p:nvSpPr>
        <p:spPr>
          <a:xfrm xmlns:a="http://schemas.openxmlformats.org/drawingml/2006/main">
            <a:off x="514350" y="552450"/>
            <a:ext cx="94297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6211F"/>
                </a:solidFill>
                <a:latin typeface="Aptos Display"/>
                <a:ea typeface="Aptos Display"/>
                <a:cs typeface="Aptos Display"/>
              </a:defRPr>
            </a:pPr>
            <a:r>
              <a:rPr sz="2175" b="1">
                <a:solidFill>
                  <a:srgbClr val="16211F"/>
                </a:solidFill>
                <a:latin typeface="Aptos Display"/>
                <a:ea typeface="Aptos Display"/>
                <a:cs typeface="Aptos Display"/>
              </a:rPr>
              <a:t>Expert descriptors are aligned to NABirds IDs and cached for reuse</a:t>
            </a:r>
          </a:p>
        </p:txBody>
      </p:sp>
      <p:sp>
        <p:nvSpPr>
          <p:cNvPr id="3" name="">
            <a:extLst xmlns:a="http://schemas.openxmlformats.org/drawingml/2006/main">
              <a:ext uri="{FF2B5EF4-FFF2-40B4-BE49-F238E27FC236}">
                <a16:creationId xmlns:a16="http://schemas.microsoft.com/office/drawing/2014/main" id="{7C4FFA91-917A-4C9A-85A8-D57D2D4AA3F2}"/>
              </a:ext>
            </a:extLst>
          </p:cNvPr>
          <p:cNvSpPr>
            <a:spLocks xmlns:a="http://schemas.openxmlformats.org/drawingml/2006/main" noGrp="1"/>
          </p:cNvSpPr>
          <p:nvPr/>
        </p:nvSpPr>
        <p:spPr>
          <a:xfrm xmlns:a="http://schemas.openxmlformats.org/drawingml/2006/main">
            <a:off x="533400" y="1257300"/>
            <a:ext cx="90487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0">
                <a:solidFill>
                  <a:srgbClr val="5D6661"/>
                </a:solidFill>
                <a:latin typeface="Aptos"/>
                <a:ea typeface="Aptos"/>
                <a:cs typeface="Aptos"/>
              </a:defRPr>
            </a:pPr>
            <a:r>
              <a:rPr sz="1163" b="0">
                <a:solidFill>
                  <a:srgbClr val="5D6661"/>
                </a:solidFill>
                <a:latin typeface="Aptos"/>
                <a:ea typeface="Aptos"/>
                <a:cs typeface="Aptos"/>
              </a:rPr>
              <a:t>We keep the official leaf classes intact and preserve variant labels inside the prompt text.</a:t>
            </a:r>
          </a:p>
        </p:txBody>
      </p:sp>
      <p:sp>
        <p:nvSpPr>
          <p:cNvPr id="4" name="">
            <a:extLst xmlns:a="http://schemas.openxmlformats.org/drawingml/2006/main">
              <a:ext uri="{FF2B5EF4-FFF2-40B4-BE49-F238E27FC236}">
                <a16:creationId xmlns:a16="http://schemas.microsoft.com/office/drawing/2014/main" id="{9321C26F-9BF9-4A40-9C1D-72CB298B9E66}"/>
              </a:ext>
            </a:extLst>
          </p:cNvPr>
          <p:cNvSpPr>
            <a:spLocks xmlns:a="http://schemas.openxmlformats.org/drawingml/2006/main" noGrp="1"/>
          </p:cNvSpPr>
          <p:nvPr/>
        </p:nvSpPr>
        <p:spPr>
          <a:xfrm xmlns:a="http://schemas.openxmlformats.org/drawingml/2006/main">
            <a:off x="552450" y="1714500"/>
            <a:ext cx="1619250" cy="933450"/>
          </a:xfrm>
          <a:prstGeom xmlns:a="http://schemas.openxmlformats.org/drawingml/2006/main" prst="rect">
            <a:avLst/>
          </a:prstGeom>
          <a:solidFill xmlns:a="http://schemas.openxmlformats.org/drawingml/2006/main">
            <a:srgbClr val="E9F2EE"/>
          </a:solidFill>
          <a:ln xmlns:a="http://schemas.openxmlformats.org/drawingml/2006/main" w="9525">
            <a:solidFill>
              <a:srgbClr val="C7DCD2"/>
            </a:solidFill>
            <a:prstDash val="solid"/>
          </a:ln>
        </p:spPr>
      </p:sp>
      <p:sp>
        <p:nvSpPr>
          <p:cNvPr id="5" name="">
            <a:extLst xmlns:a="http://schemas.openxmlformats.org/drawingml/2006/main">
              <a:ext uri="{FF2B5EF4-FFF2-40B4-BE49-F238E27FC236}">
                <a16:creationId xmlns:a16="http://schemas.microsoft.com/office/drawing/2014/main" id="{461A2AC8-3FBB-4BE2-8380-A196F0676D50}"/>
              </a:ext>
            </a:extLst>
          </p:cNvPr>
          <p:cNvSpPr>
            <a:spLocks xmlns:a="http://schemas.openxmlformats.org/drawingml/2006/main" noGrp="1"/>
          </p:cNvSpPr>
          <p:nvPr/>
        </p:nvSpPr>
        <p:spPr>
          <a:xfrm xmlns:a="http://schemas.openxmlformats.org/drawingml/2006/main">
            <a:off x="685800" y="1828800"/>
            <a:ext cx="1352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1">
                <a:solidFill>
                  <a:srgbClr val="16211F"/>
                </a:solidFill>
                <a:latin typeface="Aptos"/>
                <a:ea typeface="Aptos"/>
                <a:cs typeface="Aptos"/>
              </a:defRPr>
            </a:pPr>
            <a:r>
              <a:rPr sz="1088" b="1">
                <a:solidFill>
                  <a:srgbClr val="16211F"/>
                </a:solidFill>
                <a:latin typeface="Aptos"/>
                <a:ea typeface="Aptos"/>
                <a:cs typeface="Aptos"/>
              </a:rPr>
              <a:t>Descriptor CSV</a:t>
            </a:r>
          </a:p>
        </p:txBody>
      </p:sp>
      <p:sp>
        <p:nvSpPr>
          <p:cNvPr id="6" name="">
            <a:extLst xmlns:a="http://schemas.openxmlformats.org/drawingml/2006/main">
              <a:ext uri="{FF2B5EF4-FFF2-40B4-BE49-F238E27FC236}">
                <a16:creationId xmlns:a16="http://schemas.microsoft.com/office/drawing/2014/main" id="{07F88CAE-FF37-44A2-B854-F59523205E42}"/>
              </a:ext>
            </a:extLst>
          </p:cNvPr>
          <p:cNvSpPr>
            <a:spLocks xmlns:a="http://schemas.openxmlformats.org/drawingml/2006/main" noGrp="1"/>
          </p:cNvSpPr>
          <p:nvPr/>
        </p:nvSpPr>
        <p:spPr>
          <a:xfrm xmlns:a="http://schemas.openxmlformats.org/drawingml/2006/main">
            <a:off x="685800" y="2085975"/>
            <a:ext cx="13525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32" b="0">
                <a:solidFill>
                  <a:srgbClr val="5D6661"/>
                </a:solidFill>
                <a:latin typeface="Aptos"/>
                <a:ea typeface="Aptos"/>
                <a:cs typeface="Aptos"/>
              </a:defRPr>
            </a:pPr>
            <a:r>
              <a:rPr sz="832" b="0">
                <a:solidFill>
                  <a:srgbClr val="5D6661"/>
                </a:solidFill>
                <a:latin typeface="Aptos"/>
                <a:ea typeface="Aptos"/>
                <a:cs typeface="Aptos"/>
              </a:rPr>
              <a:t>1,011 class-description rows from the uploaded file.</a:t>
            </a:r>
          </a:p>
        </p:txBody>
      </p:sp>
      <p:sp>
        <p:nvSpPr>
          <p:cNvPr id="7" name="">
            <a:extLst xmlns:a="http://schemas.openxmlformats.org/drawingml/2006/main">
              <a:ext uri="{FF2B5EF4-FFF2-40B4-BE49-F238E27FC236}">
                <a16:creationId xmlns:a16="http://schemas.microsoft.com/office/drawing/2014/main" id="{F83E12BF-0D41-4584-A8DE-5A8576B27A42}"/>
              </a:ext>
            </a:extLst>
          </p:cNvPr>
          <p:cNvSpPr>
            <a:spLocks xmlns:a="http://schemas.openxmlformats.org/drawingml/2006/main" noGrp="1"/>
          </p:cNvSpPr>
          <p:nvPr/>
        </p:nvSpPr>
        <p:spPr>
          <a:xfrm xmlns:a="http://schemas.openxmlformats.org/drawingml/2006/main">
            <a:off x="2209800" y="2171700"/>
            <a:ext cx="400050" cy="23813"/>
          </a:xfrm>
          <a:prstGeom xmlns:a="http://schemas.openxmlformats.org/drawingml/2006/main" prst="rect">
            <a:avLst/>
          </a:prstGeom>
          <a:solidFill xmlns:a="http://schemas.openxmlformats.org/drawingml/2006/main">
            <a:srgbClr val="D8DDD3"/>
          </a:solidFill>
          <a:ln xmlns:a="http://schemas.openxmlformats.org/drawingml/2006/main" w="0">
            <a:solidFill>
              <a:srgbClr val="D8DDD3"/>
            </a:solidFill>
            <a:prstDash val="solid"/>
          </a:ln>
        </p:spPr>
      </p:sp>
      <p:sp>
        <p:nvSpPr>
          <p:cNvPr id="8" name="">
            <a:extLst xmlns:a="http://schemas.openxmlformats.org/drawingml/2006/main">
              <a:ext uri="{FF2B5EF4-FFF2-40B4-BE49-F238E27FC236}">
                <a16:creationId xmlns:a16="http://schemas.microsoft.com/office/drawing/2014/main" id="{C9622A3B-E8E9-488B-996B-AA53909D0DEB}"/>
              </a:ext>
            </a:extLst>
          </p:cNvPr>
          <p:cNvSpPr>
            <a:spLocks xmlns:a="http://schemas.openxmlformats.org/drawingml/2006/main" noGrp="1"/>
          </p:cNvSpPr>
          <p:nvPr/>
        </p:nvSpPr>
        <p:spPr>
          <a:xfrm xmlns:a="http://schemas.openxmlformats.org/drawingml/2006/main">
            <a:off x="2533650" y="2124075"/>
            <a:ext cx="95250" cy="114300"/>
          </a:xfrm>
          <a:prstGeom xmlns:a="http://schemas.openxmlformats.org/drawingml/2006/main" prst="rect">
            <a:avLst/>
          </a:prstGeom>
          <a:solidFill xmlns:a="http://schemas.openxmlformats.org/drawingml/2006/main">
            <a:srgbClr val="D8DDD3"/>
          </a:solidFill>
          <a:ln xmlns:a="http://schemas.openxmlformats.org/drawingml/2006/main" w="0">
            <a:solidFill>
              <a:srgbClr val="D8DDD3"/>
            </a:solidFill>
            <a:prstDash val="solid"/>
          </a:ln>
        </p:spPr>
      </p:sp>
      <p:sp>
        <p:nvSpPr>
          <p:cNvPr id="9" name="">
            <a:extLst xmlns:a="http://schemas.openxmlformats.org/drawingml/2006/main">
              <a:ext uri="{FF2B5EF4-FFF2-40B4-BE49-F238E27FC236}">
                <a16:creationId xmlns:a16="http://schemas.microsoft.com/office/drawing/2014/main" id="{5E8DF93E-196F-4D3C-9D84-A99D35D3D755}"/>
              </a:ext>
            </a:extLst>
          </p:cNvPr>
          <p:cNvSpPr>
            <a:spLocks xmlns:a="http://schemas.openxmlformats.org/drawingml/2006/main" noGrp="1"/>
          </p:cNvSpPr>
          <p:nvPr/>
        </p:nvSpPr>
        <p:spPr>
          <a:xfrm xmlns:a="http://schemas.openxmlformats.org/drawingml/2006/main">
            <a:off x="2628900" y="1714500"/>
            <a:ext cx="1638300" cy="933450"/>
          </a:xfrm>
          <a:prstGeom xmlns:a="http://schemas.openxmlformats.org/drawingml/2006/main" prst="rect">
            <a:avLst/>
          </a:prstGeom>
          <a:solidFill xmlns:a="http://schemas.openxmlformats.org/drawingml/2006/main">
            <a:srgbClr val="EEF1FA"/>
          </a:solidFill>
          <a:ln xmlns:a="http://schemas.openxmlformats.org/drawingml/2006/main" w="9525">
            <a:solidFill>
              <a:srgbClr val="D1D8EE"/>
            </a:solidFill>
            <a:prstDash val="solid"/>
          </a:ln>
        </p:spPr>
      </p:sp>
      <p:sp>
        <p:nvSpPr>
          <p:cNvPr id="10" name="">
            <a:extLst xmlns:a="http://schemas.openxmlformats.org/drawingml/2006/main">
              <a:ext uri="{FF2B5EF4-FFF2-40B4-BE49-F238E27FC236}">
                <a16:creationId xmlns:a16="http://schemas.microsoft.com/office/drawing/2014/main" id="{47ABD32B-13A4-4FC3-B9F0-100B99AC0371}"/>
              </a:ext>
            </a:extLst>
          </p:cNvPr>
          <p:cNvSpPr>
            <a:spLocks xmlns:a="http://schemas.openxmlformats.org/drawingml/2006/main" noGrp="1"/>
          </p:cNvSpPr>
          <p:nvPr/>
        </p:nvSpPr>
        <p:spPr>
          <a:xfrm xmlns:a="http://schemas.openxmlformats.org/drawingml/2006/main">
            <a:off x="2762250" y="1828800"/>
            <a:ext cx="1371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1">
                <a:solidFill>
                  <a:srgbClr val="16211F"/>
                </a:solidFill>
                <a:latin typeface="Aptos"/>
                <a:ea typeface="Aptos"/>
                <a:cs typeface="Aptos"/>
              </a:defRPr>
            </a:pPr>
            <a:r>
              <a:rPr sz="1088" b="1">
                <a:solidFill>
                  <a:srgbClr val="16211F"/>
                </a:solidFill>
                <a:latin typeface="Aptos"/>
                <a:ea typeface="Aptos"/>
                <a:cs typeface="Aptos"/>
              </a:rPr>
              <a:t>Join on raw_class_id</a:t>
            </a:r>
          </a:p>
        </p:txBody>
      </p:sp>
      <p:sp>
        <p:nvSpPr>
          <p:cNvPr id="11" name="">
            <a:extLst xmlns:a="http://schemas.openxmlformats.org/drawingml/2006/main">
              <a:ext uri="{FF2B5EF4-FFF2-40B4-BE49-F238E27FC236}">
                <a16:creationId xmlns:a16="http://schemas.microsoft.com/office/drawing/2014/main" id="{FDEEC3B1-20D6-4C1B-A111-4A56E5730355}"/>
              </a:ext>
            </a:extLst>
          </p:cNvPr>
          <p:cNvSpPr>
            <a:spLocks xmlns:a="http://schemas.openxmlformats.org/drawingml/2006/main" noGrp="1"/>
          </p:cNvSpPr>
          <p:nvPr/>
        </p:nvSpPr>
        <p:spPr>
          <a:xfrm xmlns:a="http://schemas.openxmlformats.org/drawingml/2006/main">
            <a:off x="2762250" y="2085975"/>
            <a:ext cx="13716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32" b="0">
                <a:solidFill>
                  <a:srgbClr val="5D6661"/>
                </a:solidFill>
                <a:latin typeface="Aptos"/>
                <a:ea typeface="Aptos"/>
                <a:cs typeface="Aptos"/>
              </a:defRPr>
            </a:pPr>
            <a:r>
              <a:rPr sz="832" b="0">
                <a:solidFill>
                  <a:srgbClr val="5D6661"/>
                </a:solidFill>
                <a:latin typeface="Aptos"/>
                <a:ea typeface="Aptos"/>
                <a:cs typeface="Aptos"/>
              </a:rPr>
              <a:t>Restrict to the 555 image-bearing official classes.</a:t>
            </a:r>
          </a:p>
        </p:txBody>
      </p:sp>
      <p:sp>
        <p:nvSpPr>
          <p:cNvPr id="12" name="">
            <a:extLst xmlns:a="http://schemas.openxmlformats.org/drawingml/2006/main">
              <a:ext uri="{FF2B5EF4-FFF2-40B4-BE49-F238E27FC236}">
                <a16:creationId xmlns:a16="http://schemas.microsoft.com/office/drawing/2014/main" id="{BD6B643D-7690-4AC5-9437-605E2584AC0A}"/>
              </a:ext>
            </a:extLst>
          </p:cNvPr>
          <p:cNvSpPr>
            <a:spLocks xmlns:a="http://schemas.openxmlformats.org/drawingml/2006/main" noGrp="1"/>
          </p:cNvSpPr>
          <p:nvPr/>
        </p:nvSpPr>
        <p:spPr>
          <a:xfrm xmlns:a="http://schemas.openxmlformats.org/drawingml/2006/main">
            <a:off x="4305300" y="2171700"/>
            <a:ext cx="400050" cy="23813"/>
          </a:xfrm>
          <a:prstGeom xmlns:a="http://schemas.openxmlformats.org/drawingml/2006/main" prst="rect">
            <a:avLst/>
          </a:prstGeom>
          <a:solidFill xmlns:a="http://schemas.openxmlformats.org/drawingml/2006/main">
            <a:srgbClr val="D8DDD3"/>
          </a:solidFill>
          <a:ln xmlns:a="http://schemas.openxmlformats.org/drawingml/2006/main" w="0">
            <a:solidFill>
              <a:srgbClr val="D8DDD3"/>
            </a:solidFill>
            <a:prstDash val="solid"/>
          </a:ln>
        </p:spPr>
      </p:sp>
      <p:sp>
        <p:nvSpPr>
          <p:cNvPr id="13" name="">
            <a:extLst xmlns:a="http://schemas.openxmlformats.org/drawingml/2006/main">
              <a:ext uri="{FF2B5EF4-FFF2-40B4-BE49-F238E27FC236}">
                <a16:creationId xmlns:a16="http://schemas.microsoft.com/office/drawing/2014/main" id="{F7183C5C-A6B5-40F5-8E68-965A85D7642F}"/>
              </a:ext>
            </a:extLst>
          </p:cNvPr>
          <p:cNvSpPr>
            <a:spLocks xmlns:a="http://schemas.openxmlformats.org/drawingml/2006/main" noGrp="1"/>
          </p:cNvSpPr>
          <p:nvPr/>
        </p:nvSpPr>
        <p:spPr>
          <a:xfrm xmlns:a="http://schemas.openxmlformats.org/drawingml/2006/main">
            <a:off x="4629150" y="2124075"/>
            <a:ext cx="95250" cy="114300"/>
          </a:xfrm>
          <a:prstGeom xmlns:a="http://schemas.openxmlformats.org/drawingml/2006/main" prst="rect">
            <a:avLst/>
          </a:prstGeom>
          <a:solidFill xmlns:a="http://schemas.openxmlformats.org/drawingml/2006/main">
            <a:srgbClr val="D8DDD3"/>
          </a:solidFill>
          <a:ln xmlns:a="http://schemas.openxmlformats.org/drawingml/2006/main" w="0">
            <a:solidFill>
              <a:srgbClr val="D8DDD3"/>
            </a:solidFill>
            <a:prstDash val="solid"/>
          </a:ln>
        </p:spPr>
      </p:sp>
      <p:sp>
        <p:nvSpPr>
          <p:cNvPr id="14" name="">
            <a:extLst xmlns:a="http://schemas.openxmlformats.org/drawingml/2006/main">
              <a:ext uri="{FF2B5EF4-FFF2-40B4-BE49-F238E27FC236}">
                <a16:creationId xmlns:a16="http://schemas.microsoft.com/office/drawing/2014/main" id="{8179BA4E-FD1F-4806-8966-CE56876BC5B2}"/>
              </a:ext>
            </a:extLst>
          </p:cNvPr>
          <p:cNvSpPr>
            <a:spLocks xmlns:a="http://schemas.openxmlformats.org/drawingml/2006/main" noGrp="1"/>
          </p:cNvSpPr>
          <p:nvPr/>
        </p:nvSpPr>
        <p:spPr>
          <a:xfrm xmlns:a="http://schemas.openxmlformats.org/drawingml/2006/main">
            <a:off x="4724400" y="1714500"/>
            <a:ext cx="1676400" cy="933450"/>
          </a:xfrm>
          <a:prstGeom xmlns:a="http://schemas.openxmlformats.org/drawingml/2006/main" prst="rect">
            <a:avLst/>
          </a:prstGeom>
          <a:solidFill xmlns:a="http://schemas.openxmlformats.org/drawingml/2006/main">
            <a:srgbClr val="F8F0DE"/>
          </a:solidFill>
          <a:ln xmlns:a="http://schemas.openxmlformats.org/drawingml/2006/main" w="9525">
            <a:solidFill>
              <a:srgbClr val="E5D2A4"/>
            </a:solidFill>
            <a:prstDash val="solid"/>
          </a:ln>
        </p:spPr>
      </p:sp>
      <p:sp>
        <p:nvSpPr>
          <p:cNvPr id="15" name="">
            <a:extLst xmlns:a="http://schemas.openxmlformats.org/drawingml/2006/main">
              <a:ext uri="{FF2B5EF4-FFF2-40B4-BE49-F238E27FC236}">
                <a16:creationId xmlns:a16="http://schemas.microsoft.com/office/drawing/2014/main" id="{35C025E6-F7C8-4A69-9F2E-96DD5C522EC9}"/>
              </a:ext>
            </a:extLst>
          </p:cNvPr>
          <p:cNvSpPr>
            <a:spLocks xmlns:a="http://schemas.openxmlformats.org/drawingml/2006/main" noGrp="1"/>
          </p:cNvSpPr>
          <p:nvPr/>
        </p:nvSpPr>
        <p:spPr>
          <a:xfrm xmlns:a="http://schemas.openxmlformats.org/drawingml/2006/main">
            <a:off x="4857750" y="1828800"/>
            <a:ext cx="1409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1">
                <a:solidFill>
                  <a:srgbClr val="16211F"/>
                </a:solidFill>
                <a:latin typeface="Aptos"/>
                <a:ea typeface="Aptos"/>
                <a:cs typeface="Aptos"/>
              </a:defRPr>
            </a:pPr>
            <a:r>
              <a:rPr sz="1088" b="1">
                <a:solidFill>
                  <a:srgbClr val="16211F"/>
                </a:solidFill>
                <a:latin typeface="Aptos"/>
                <a:ea typeface="Aptos"/>
                <a:cs typeface="Aptos"/>
              </a:rPr>
              <a:t>Variant prompts</a:t>
            </a:r>
          </a:p>
        </p:txBody>
      </p:sp>
      <p:sp>
        <p:nvSpPr>
          <p:cNvPr id="16" name="">
            <a:extLst xmlns:a="http://schemas.openxmlformats.org/drawingml/2006/main">
              <a:ext uri="{FF2B5EF4-FFF2-40B4-BE49-F238E27FC236}">
                <a16:creationId xmlns:a16="http://schemas.microsoft.com/office/drawing/2014/main" id="{052FB699-AD1B-492A-8430-98233744E9E1}"/>
              </a:ext>
            </a:extLst>
          </p:cNvPr>
          <p:cNvSpPr>
            <a:spLocks xmlns:a="http://schemas.openxmlformats.org/drawingml/2006/main" noGrp="1"/>
          </p:cNvSpPr>
          <p:nvPr/>
        </p:nvSpPr>
        <p:spPr>
          <a:xfrm xmlns:a="http://schemas.openxmlformats.org/drawingml/2006/main">
            <a:off x="4857750" y="2085975"/>
            <a:ext cx="14097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32" b="0">
                <a:solidFill>
                  <a:srgbClr val="5D6661"/>
                </a:solidFill>
                <a:latin typeface="Aptos"/>
                <a:ea typeface="Aptos"/>
                <a:cs typeface="Aptos"/>
              </a:defRPr>
            </a:pPr>
            <a:r>
              <a:rPr sz="832" b="0">
                <a:solidFill>
                  <a:srgbClr val="5D6661"/>
                </a:solidFill>
                <a:latin typeface="Aptos"/>
                <a:ea typeface="Aptos"/>
                <a:cs typeface="Aptos"/>
              </a:rPr>
              <a:t>Class label plus visual field marks; no class splitting.</a:t>
            </a:r>
          </a:p>
        </p:txBody>
      </p:sp>
      <p:sp>
        <p:nvSpPr>
          <p:cNvPr id="17" name="">
            <a:extLst xmlns:a="http://schemas.openxmlformats.org/drawingml/2006/main">
              <a:ext uri="{FF2B5EF4-FFF2-40B4-BE49-F238E27FC236}">
                <a16:creationId xmlns:a16="http://schemas.microsoft.com/office/drawing/2014/main" id="{48B910C6-359D-4CD4-BA6C-89C677EDCE1E}"/>
              </a:ext>
            </a:extLst>
          </p:cNvPr>
          <p:cNvSpPr>
            <a:spLocks xmlns:a="http://schemas.openxmlformats.org/drawingml/2006/main" noGrp="1"/>
          </p:cNvSpPr>
          <p:nvPr/>
        </p:nvSpPr>
        <p:spPr>
          <a:xfrm xmlns:a="http://schemas.openxmlformats.org/drawingml/2006/main">
            <a:off x="1562100" y="3200400"/>
            <a:ext cx="171450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D8DDD3"/>
            </a:solidFill>
            <a:prstDash val="solid"/>
          </a:ln>
        </p:spPr>
      </p:sp>
      <p:sp>
        <p:nvSpPr>
          <p:cNvPr id="18" name="">
            <a:extLst xmlns:a="http://schemas.openxmlformats.org/drawingml/2006/main">
              <a:ext uri="{FF2B5EF4-FFF2-40B4-BE49-F238E27FC236}">
                <a16:creationId xmlns:a16="http://schemas.microsoft.com/office/drawing/2014/main" id="{EA946C27-3E1B-4BA1-B6A3-221B22725538}"/>
              </a:ext>
            </a:extLst>
          </p:cNvPr>
          <p:cNvSpPr>
            <a:spLocks xmlns:a="http://schemas.openxmlformats.org/drawingml/2006/main" noGrp="1"/>
          </p:cNvSpPr>
          <p:nvPr/>
        </p:nvSpPr>
        <p:spPr>
          <a:xfrm xmlns:a="http://schemas.openxmlformats.org/drawingml/2006/main">
            <a:off x="1695450" y="3314700"/>
            <a:ext cx="1447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1">
                <a:solidFill>
                  <a:srgbClr val="16211F"/>
                </a:solidFill>
                <a:latin typeface="Aptos"/>
                <a:ea typeface="Aptos"/>
                <a:cs typeface="Aptos"/>
              </a:defRPr>
            </a:pPr>
            <a:r>
              <a:rPr sz="1088" b="1">
                <a:solidFill>
                  <a:srgbClr val="16211F"/>
                </a:solidFill>
                <a:latin typeface="Aptos"/>
                <a:ea typeface="Aptos"/>
                <a:cs typeface="Aptos"/>
              </a:rPr>
              <a:t>Text features</a:t>
            </a:r>
          </a:p>
        </p:txBody>
      </p:sp>
      <p:sp>
        <p:nvSpPr>
          <p:cNvPr id="19" name="">
            <a:extLst xmlns:a="http://schemas.openxmlformats.org/drawingml/2006/main">
              <a:ext uri="{FF2B5EF4-FFF2-40B4-BE49-F238E27FC236}">
                <a16:creationId xmlns:a16="http://schemas.microsoft.com/office/drawing/2014/main" id="{5F8AF045-67CF-4AFB-A98E-A5073FA63554}"/>
              </a:ext>
            </a:extLst>
          </p:cNvPr>
          <p:cNvSpPr>
            <a:spLocks xmlns:a="http://schemas.openxmlformats.org/drawingml/2006/main" noGrp="1"/>
          </p:cNvSpPr>
          <p:nvPr/>
        </p:nvSpPr>
        <p:spPr>
          <a:xfrm xmlns:a="http://schemas.openxmlformats.org/drawingml/2006/main">
            <a:off x="1695450" y="3571875"/>
            <a:ext cx="14478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32" b="0">
                <a:solidFill>
                  <a:srgbClr val="5D6661"/>
                </a:solidFill>
                <a:latin typeface="Aptos"/>
                <a:ea typeface="Aptos"/>
                <a:cs typeface="Aptos"/>
              </a:defRPr>
            </a:pPr>
            <a:r>
              <a:rPr sz="832" b="0">
                <a:solidFill>
                  <a:srgbClr val="5D6661"/>
                </a:solidFill>
                <a:latin typeface="Aptos"/>
                <a:ea typeface="Aptos"/>
                <a:cs typeface="Aptos"/>
              </a:rPr>
              <a:t>Mean prompt embedding per class for generic and descriptor sets.</a:t>
            </a:r>
          </a:p>
        </p:txBody>
      </p:sp>
      <p:sp>
        <p:nvSpPr>
          <p:cNvPr id="20" name="">
            <a:extLst xmlns:a="http://schemas.openxmlformats.org/drawingml/2006/main">
              <a:ext uri="{FF2B5EF4-FFF2-40B4-BE49-F238E27FC236}">
                <a16:creationId xmlns:a16="http://schemas.microsoft.com/office/drawing/2014/main" id="{2EF343FA-5B09-476A-A137-D0E6552F5DB0}"/>
              </a:ext>
            </a:extLst>
          </p:cNvPr>
          <p:cNvSpPr>
            <a:spLocks xmlns:a="http://schemas.openxmlformats.org/drawingml/2006/main" noGrp="1"/>
          </p:cNvSpPr>
          <p:nvPr/>
        </p:nvSpPr>
        <p:spPr>
          <a:xfrm xmlns:a="http://schemas.openxmlformats.org/drawingml/2006/main">
            <a:off x="3314700" y="3676650"/>
            <a:ext cx="400050" cy="23813"/>
          </a:xfrm>
          <a:prstGeom xmlns:a="http://schemas.openxmlformats.org/drawingml/2006/main" prst="rect">
            <a:avLst/>
          </a:prstGeom>
          <a:solidFill xmlns:a="http://schemas.openxmlformats.org/drawingml/2006/main">
            <a:srgbClr val="D8DDD3"/>
          </a:solidFill>
          <a:ln xmlns:a="http://schemas.openxmlformats.org/drawingml/2006/main" w="0">
            <a:solidFill>
              <a:srgbClr val="D8DDD3"/>
            </a:solidFill>
            <a:prstDash val="solid"/>
          </a:ln>
        </p:spPr>
      </p:sp>
      <p:sp>
        <p:nvSpPr>
          <p:cNvPr id="21" name="">
            <a:extLst xmlns:a="http://schemas.openxmlformats.org/drawingml/2006/main">
              <a:ext uri="{FF2B5EF4-FFF2-40B4-BE49-F238E27FC236}">
                <a16:creationId xmlns:a16="http://schemas.microsoft.com/office/drawing/2014/main" id="{112A58B6-AC6A-4EC8-8E19-11C65DFA187B}"/>
              </a:ext>
            </a:extLst>
          </p:cNvPr>
          <p:cNvSpPr>
            <a:spLocks xmlns:a="http://schemas.openxmlformats.org/drawingml/2006/main" noGrp="1"/>
          </p:cNvSpPr>
          <p:nvPr/>
        </p:nvSpPr>
        <p:spPr>
          <a:xfrm xmlns:a="http://schemas.openxmlformats.org/drawingml/2006/main">
            <a:off x="3638550" y="3629025"/>
            <a:ext cx="95250" cy="114300"/>
          </a:xfrm>
          <a:prstGeom xmlns:a="http://schemas.openxmlformats.org/drawingml/2006/main" prst="rect">
            <a:avLst/>
          </a:prstGeom>
          <a:solidFill xmlns:a="http://schemas.openxmlformats.org/drawingml/2006/main">
            <a:srgbClr val="D8DDD3"/>
          </a:solidFill>
          <a:ln xmlns:a="http://schemas.openxmlformats.org/drawingml/2006/main" w="0">
            <a:solidFill>
              <a:srgbClr val="D8DDD3"/>
            </a:solidFill>
            <a:prstDash val="solid"/>
          </a:ln>
        </p:spPr>
      </p:sp>
      <p:sp>
        <p:nvSpPr>
          <p:cNvPr id="22" name="">
            <a:extLst xmlns:a="http://schemas.openxmlformats.org/drawingml/2006/main">
              <a:ext uri="{FF2B5EF4-FFF2-40B4-BE49-F238E27FC236}">
                <a16:creationId xmlns:a16="http://schemas.microsoft.com/office/drawing/2014/main" id="{41DB7AAF-6E36-4D17-969F-A26E7F9FDB04}"/>
              </a:ext>
            </a:extLst>
          </p:cNvPr>
          <p:cNvSpPr>
            <a:spLocks xmlns:a="http://schemas.openxmlformats.org/drawingml/2006/main" noGrp="1"/>
          </p:cNvSpPr>
          <p:nvPr/>
        </p:nvSpPr>
        <p:spPr>
          <a:xfrm xmlns:a="http://schemas.openxmlformats.org/drawingml/2006/main">
            <a:off x="3733800" y="3200400"/>
            <a:ext cx="171450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D8DDD3"/>
            </a:solidFill>
            <a:prstDash val="solid"/>
          </a:ln>
        </p:spPr>
      </p:sp>
      <p:sp>
        <p:nvSpPr>
          <p:cNvPr id="23" name="">
            <a:extLst xmlns:a="http://schemas.openxmlformats.org/drawingml/2006/main">
              <a:ext uri="{FF2B5EF4-FFF2-40B4-BE49-F238E27FC236}">
                <a16:creationId xmlns:a16="http://schemas.microsoft.com/office/drawing/2014/main" id="{444D5404-7A14-4E7A-86CB-33AB05B1862F}"/>
              </a:ext>
            </a:extLst>
          </p:cNvPr>
          <p:cNvSpPr>
            <a:spLocks xmlns:a="http://schemas.openxmlformats.org/drawingml/2006/main" noGrp="1"/>
          </p:cNvSpPr>
          <p:nvPr/>
        </p:nvSpPr>
        <p:spPr>
          <a:xfrm xmlns:a="http://schemas.openxmlformats.org/drawingml/2006/main">
            <a:off x="3867150" y="3314700"/>
            <a:ext cx="1447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1">
                <a:solidFill>
                  <a:srgbClr val="16211F"/>
                </a:solidFill>
                <a:latin typeface="Aptos"/>
                <a:ea typeface="Aptos"/>
                <a:cs typeface="Aptos"/>
              </a:defRPr>
            </a:pPr>
            <a:r>
              <a:rPr sz="1088" b="1">
                <a:solidFill>
                  <a:srgbClr val="16211F"/>
                </a:solidFill>
                <a:latin typeface="Aptos"/>
                <a:ea typeface="Aptos"/>
                <a:cs typeface="Aptos"/>
              </a:rPr>
              <a:t>Image features</a:t>
            </a:r>
          </a:p>
        </p:txBody>
      </p:sp>
      <p:sp>
        <p:nvSpPr>
          <p:cNvPr id="24" name="">
            <a:extLst xmlns:a="http://schemas.openxmlformats.org/drawingml/2006/main">
              <a:ext uri="{FF2B5EF4-FFF2-40B4-BE49-F238E27FC236}">
                <a16:creationId xmlns:a16="http://schemas.microsoft.com/office/drawing/2014/main" id="{7837392D-A3C7-4951-91C6-FF98871DFCBA}"/>
              </a:ext>
            </a:extLst>
          </p:cNvPr>
          <p:cNvSpPr>
            <a:spLocks xmlns:a="http://schemas.openxmlformats.org/drawingml/2006/main" noGrp="1"/>
          </p:cNvSpPr>
          <p:nvPr/>
        </p:nvSpPr>
        <p:spPr>
          <a:xfrm xmlns:a="http://schemas.openxmlformats.org/drawingml/2006/main">
            <a:off x="3867150" y="3571875"/>
            <a:ext cx="14478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32" b="0">
                <a:solidFill>
                  <a:srgbClr val="5D6661"/>
                </a:solidFill>
                <a:latin typeface="Aptos"/>
                <a:ea typeface="Aptos"/>
                <a:cs typeface="Aptos"/>
              </a:defRPr>
            </a:pPr>
            <a:r>
              <a:rPr sz="832" b="0">
                <a:solidFill>
                  <a:srgbClr val="5D6661"/>
                </a:solidFill>
                <a:latin typeface="Aptos"/>
                <a:ea typeface="Aptos"/>
                <a:cs typeface="Aptos"/>
              </a:rPr>
              <a:t>Full-image test embeddings saved in reusable shards.</a:t>
            </a:r>
          </a:p>
        </p:txBody>
      </p:sp>
      <p:sp>
        <p:nvSpPr>
          <p:cNvPr id="25" name="">
            <a:extLst xmlns:a="http://schemas.openxmlformats.org/drawingml/2006/main">
              <a:ext uri="{FF2B5EF4-FFF2-40B4-BE49-F238E27FC236}">
                <a16:creationId xmlns:a16="http://schemas.microsoft.com/office/drawing/2014/main" id="{410571DF-E211-4138-8FE2-4D450676966C}"/>
              </a:ext>
            </a:extLst>
          </p:cNvPr>
          <p:cNvSpPr>
            <a:spLocks xmlns:a="http://schemas.openxmlformats.org/drawingml/2006/main" noGrp="1"/>
          </p:cNvSpPr>
          <p:nvPr/>
        </p:nvSpPr>
        <p:spPr>
          <a:xfrm xmlns:a="http://schemas.openxmlformats.org/drawingml/2006/main">
            <a:off x="5486400" y="3676650"/>
            <a:ext cx="381000" cy="23813"/>
          </a:xfrm>
          <a:prstGeom xmlns:a="http://schemas.openxmlformats.org/drawingml/2006/main" prst="rect">
            <a:avLst/>
          </a:prstGeom>
          <a:solidFill xmlns:a="http://schemas.openxmlformats.org/drawingml/2006/main">
            <a:srgbClr val="D8DDD3"/>
          </a:solidFill>
          <a:ln xmlns:a="http://schemas.openxmlformats.org/drawingml/2006/main" w="0">
            <a:solidFill>
              <a:srgbClr val="D8DDD3"/>
            </a:solidFill>
            <a:prstDash val="solid"/>
          </a:ln>
        </p:spPr>
      </p:sp>
      <p:sp>
        <p:nvSpPr>
          <p:cNvPr id="26" name="">
            <a:extLst xmlns:a="http://schemas.openxmlformats.org/drawingml/2006/main">
              <a:ext uri="{FF2B5EF4-FFF2-40B4-BE49-F238E27FC236}">
                <a16:creationId xmlns:a16="http://schemas.microsoft.com/office/drawing/2014/main" id="{1084803C-7708-447F-8DAB-754083B9412C}"/>
              </a:ext>
            </a:extLst>
          </p:cNvPr>
          <p:cNvSpPr>
            <a:spLocks xmlns:a="http://schemas.openxmlformats.org/drawingml/2006/main" noGrp="1"/>
          </p:cNvSpPr>
          <p:nvPr/>
        </p:nvSpPr>
        <p:spPr>
          <a:xfrm xmlns:a="http://schemas.openxmlformats.org/drawingml/2006/main">
            <a:off x="5791200" y="3629025"/>
            <a:ext cx="95250" cy="114300"/>
          </a:xfrm>
          <a:prstGeom xmlns:a="http://schemas.openxmlformats.org/drawingml/2006/main" prst="rect">
            <a:avLst/>
          </a:prstGeom>
          <a:solidFill xmlns:a="http://schemas.openxmlformats.org/drawingml/2006/main">
            <a:srgbClr val="D8DDD3"/>
          </a:solidFill>
          <a:ln xmlns:a="http://schemas.openxmlformats.org/drawingml/2006/main" w="0">
            <a:solidFill>
              <a:srgbClr val="D8DDD3"/>
            </a:solidFill>
            <a:prstDash val="solid"/>
          </a:ln>
        </p:spPr>
      </p:sp>
      <p:sp>
        <p:nvSpPr>
          <p:cNvPr id="27" name="">
            <a:extLst xmlns:a="http://schemas.openxmlformats.org/drawingml/2006/main">
              <a:ext uri="{FF2B5EF4-FFF2-40B4-BE49-F238E27FC236}">
                <a16:creationId xmlns:a16="http://schemas.microsoft.com/office/drawing/2014/main" id="{DF76FAAA-2861-4680-A0E5-B5EAC69F962D}"/>
              </a:ext>
            </a:extLst>
          </p:cNvPr>
          <p:cNvSpPr>
            <a:spLocks xmlns:a="http://schemas.openxmlformats.org/drawingml/2006/main" noGrp="1"/>
          </p:cNvSpPr>
          <p:nvPr/>
        </p:nvSpPr>
        <p:spPr>
          <a:xfrm xmlns:a="http://schemas.openxmlformats.org/drawingml/2006/main">
            <a:off x="5886450" y="3200400"/>
            <a:ext cx="171450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D8DDD3"/>
            </a:solidFill>
            <a:prstDash val="solid"/>
          </a:ln>
        </p:spPr>
      </p:sp>
      <p:sp>
        <p:nvSpPr>
          <p:cNvPr id="28" name="">
            <a:extLst xmlns:a="http://schemas.openxmlformats.org/drawingml/2006/main">
              <a:ext uri="{FF2B5EF4-FFF2-40B4-BE49-F238E27FC236}">
                <a16:creationId xmlns:a16="http://schemas.microsoft.com/office/drawing/2014/main" id="{88DE510C-0FE7-49A1-B253-7F7DA9D81F4F}"/>
              </a:ext>
            </a:extLst>
          </p:cNvPr>
          <p:cNvSpPr>
            <a:spLocks xmlns:a="http://schemas.openxmlformats.org/drawingml/2006/main" noGrp="1"/>
          </p:cNvSpPr>
          <p:nvPr/>
        </p:nvSpPr>
        <p:spPr>
          <a:xfrm xmlns:a="http://schemas.openxmlformats.org/drawingml/2006/main">
            <a:off x="6019800" y="3314700"/>
            <a:ext cx="1447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1">
                <a:solidFill>
                  <a:srgbClr val="16211F"/>
                </a:solidFill>
                <a:latin typeface="Aptos"/>
                <a:ea typeface="Aptos"/>
                <a:cs typeface="Aptos"/>
              </a:defRPr>
            </a:pPr>
            <a:r>
              <a:rPr sz="1088" b="1">
                <a:solidFill>
                  <a:srgbClr val="16211F"/>
                </a:solidFill>
                <a:latin typeface="Aptos"/>
                <a:ea typeface="Aptos"/>
                <a:cs typeface="Aptos"/>
              </a:rPr>
              <a:t>Cosine retrieval</a:t>
            </a:r>
          </a:p>
        </p:txBody>
      </p:sp>
      <p:sp>
        <p:nvSpPr>
          <p:cNvPr id="29" name="">
            <a:extLst xmlns:a="http://schemas.openxmlformats.org/drawingml/2006/main">
              <a:ext uri="{FF2B5EF4-FFF2-40B4-BE49-F238E27FC236}">
                <a16:creationId xmlns:a16="http://schemas.microsoft.com/office/drawing/2014/main" id="{7A8093EC-F65B-4D0A-A6B6-CA87D8786395}"/>
              </a:ext>
            </a:extLst>
          </p:cNvPr>
          <p:cNvSpPr>
            <a:spLocks xmlns:a="http://schemas.openxmlformats.org/drawingml/2006/main" noGrp="1"/>
          </p:cNvSpPr>
          <p:nvPr/>
        </p:nvSpPr>
        <p:spPr>
          <a:xfrm xmlns:a="http://schemas.openxmlformats.org/drawingml/2006/main">
            <a:off x="6019800" y="3571875"/>
            <a:ext cx="14478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32" b="0">
                <a:solidFill>
                  <a:srgbClr val="5D6661"/>
                </a:solidFill>
                <a:latin typeface="Aptos"/>
                <a:ea typeface="Aptos"/>
                <a:cs typeface="Aptos"/>
              </a:defRPr>
            </a:pPr>
            <a:r>
              <a:rPr sz="832" b="0">
                <a:solidFill>
                  <a:srgbClr val="5D6661"/>
                </a:solidFill>
                <a:latin typeface="Aptos"/>
                <a:ea typeface="Aptos"/>
                <a:cs typeface="Aptos"/>
              </a:rPr>
              <a:t>Top-1, top-5, macro-F1, prediction CSV, error assets.</a:t>
            </a:r>
          </a:p>
        </p:txBody>
      </p:sp>
      <p:sp>
        <p:nvSpPr>
          <p:cNvPr id="30" name="">
            <a:extLst xmlns:a="http://schemas.openxmlformats.org/drawingml/2006/main">
              <a:ext uri="{FF2B5EF4-FFF2-40B4-BE49-F238E27FC236}">
                <a16:creationId xmlns:a16="http://schemas.microsoft.com/office/drawing/2014/main" id="{B720CE56-4C6E-4054-AE72-8C1235AD0B12}"/>
              </a:ext>
            </a:extLst>
          </p:cNvPr>
          <p:cNvSpPr>
            <a:spLocks xmlns:a="http://schemas.openxmlformats.org/drawingml/2006/main" noGrp="1"/>
          </p:cNvSpPr>
          <p:nvPr/>
        </p:nvSpPr>
        <p:spPr>
          <a:xfrm xmlns:a="http://schemas.openxmlformats.org/drawingml/2006/main">
            <a:off x="5524500" y="2647950"/>
            <a:ext cx="0" cy="23813"/>
          </a:xfrm>
          <a:prstGeom xmlns:a="http://schemas.openxmlformats.org/drawingml/2006/main" prst="rect">
            <a:avLst/>
          </a:prstGeom>
          <a:solidFill xmlns:a="http://schemas.openxmlformats.org/drawingml/2006/main">
            <a:srgbClr val="D8DDD3"/>
          </a:solidFill>
          <a:ln xmlns:a="http://schemas.openxmlformats.org/drawingml/2006/main" w="0">
            <a:solidFill>
              <a:srgbClr val="D8DDD3"/>
            </a:solidFill>
            <a:prstDash val="solid"/>
          </a:ln>
        </p:spPr>
      </p:sp>
      <p:sp>
        <p:nvSpPr>
          <p:cNvPr id="31" name="">
            <a:extLst xmlns:a="http://schemas.openxmlformats.org/drawingml/2006/main">
              <a:ext uri="{FF2B5EF4-FFF2-40B4-BE49-F238E27FC236}">
                <a16:creationId xmlns:a16="http://schemas.microsoft.com/office/drawing/2014/main" id="{70758068-4715-4E78-A841-8A7BB07C50BA}"/>
              </a:ext>
            </a:extLst>
          </p:cNvPr>
          <p:cNvSpPr>
            <a:spLocks xmlns:a="http://schemas.openxmlformats.org/drawingml/2006/main" noGrp="1"/>
          </p:cNvSpPr>
          <p:nvPr/>
        </p:nvSpPr>
        <p:spPr>
          <a:xfrm xmlns:a="http://schemas.openxmlformats.org/drawingml/2006/main">
            <a:off x="5448300" y="2600325"/>
            <a:ext cx="95250" cy="114300"/>
          </a:xfrm>
          <a:prstGeom xmlns:a="http://schemas.openxmlformats.org/drawingml/2006/main" prst="rect">
            <a:avLst/>
          </a:prstGeom>
          <a:solidFill xmlns:a="http://schemas.openxmlformats.org/drawingml/2006/main">
            <a:srgbClr val="D8DDD3"/>
          </a:solidFill>
          <a:ln xmlns:a="http://schemas.openxmlformats.org/drawingml/2006/main" w="0">
            <a:solidFill>
              <a:srgbClr val="D8DDD3"/>
            </a:solidFill>
            <a:prstDash val="solid"/>
          </a:ln>
        </p:spPr>
      </p:sp>
      <p:sp>
        <p:nvSpPr>
          <p:cNvPr id="32" name="">
            <a:extLst xmlns:a="http://schemas.openxmlformats.org/drawingml/2006/main">
              <a:ext uri="{FF2B5EF4-FFF2-40B4-BE49-F238E27FC236}">
                <a16:creationId xmlns:a16="http://schemas.microsoft.com/office/drawing/2014/main" id="{F65F17AC-3637-4DBC-B98B-41DED825F84B}"/>
              </a:ext>
            </a:extLst>
          </p:cNvPr>
          <p:cNvSpPr>
            <a:spLocks xmlns:a="http://schemas.openxmlformats.org/drawingml/2006/main" noGrp="1"/>
          </p:cNvSpPr>
          <p:nvPr/>
        </p:nvSpPr>
        <p:spPr>
          <a:xfrm xmlns:a="http://schemas.openxmlformats.org/drawingml/2006/main">
            <a:off x="5524500" y="2667000"/>
            <a:ext cx="23813" cy="523875"/>
          </a:xfrm>
          <a:prstGeom xmlns:a="http://schemas.openxmlformats.org/drawingml/2006/main" prst="rect">
            <a:avLst/>
          </a:prstGeom>
          <a:solidFill xmlns:a="http://schemas.openxmlformats.org/drawingml/2006/main">
            <a:srgbClr val="D8DDD3"/>
          </a:solidFill>
          <a:ln xmlns:a="http://schemas.openxmlformats.org/drawingml/2006/main" w="0">
            <a:solidFill>
              <a:srgbClr val="D8DDD3"/>
            </a:solidFill>
            <a:prstDash val="solid"/>
          </a:ln>
        </p:spPr>
      </p:sp>
      <p:sp>
        <p:nvSpPr>
          <p:cNvPr id="33" name="">
            <a:extLst xmlns:a="http://schemas.openxmlformats.org/drawingml/2006/main">
              <a:ext uri="{FF2B5EF4-FFF2-40B4-BE49-F238E27FC236}">
                <a16:creationId xmlns:a16="http://schemas.microsoft.com/office/drawing/2014/main" id="{9253470D-7268-48F7-BEA2-EA096396DD5C}"/>
              </a:ext>
            </a:extLst>
          </p:cNvPr>
          <p:cNvSpPr>
            <a:spLocks xmlns:a="http://schemas.openxmlformats.org/drawingml/2006/main" noGrp="1"/>
          </p:cNvSpPr>
          <p:nvPr/>
        </p:nvSpPr>
        <p:spPr>
          <a:xfrm xmlns:a="http://schemas.openxmlformats.org/drawingml/2006/main">
            <a:off x="7981950" y="1619250"/>
            <a:ext cx="3657600" cy="1619250"/>
          </a:xfrm>
          <a:prstGeom xmlns:a="http://schemas.openxmlformats.org/drawingml/2006/main" prst="rect">
            <a:avLst/>
          </a:prstGeom>
          <a:solidFill xmlns:a="http://schemas.openxmlformats.org/drawingml/2006/main">
            <a:srgbClr val="FFFFFF"/>
          </a:solidFill>
          <a:ln xmlns:a="http://schemas.openxmlformats.org/drawingml/2006/main" w="9525">
            <a:solidFill>
              <a:srgbClr val="E0E4DC"/>
            </a:solidFill>
            <a:prstDash val="solid"/>
          </a:ln>
        </p:spPr>
      </p:sp>
      <p:sp>
        <p:nvSpPr>
          <p:cNvPr id="34" name="">
            <a:extLst xmlns:a="http://schemas.openxmlformats.org/drawingml/2006/main">
              <a:ext uri="{FF2B5EF4-FFF2-40B4-BE49-F238E27FC236}">
                <a16:creationId xmlns:a16="http://schemas.microsoft.com/office/drawing/2014/main" id="{9DEB2785-9D11-4681-A1B2-26898D574373}"/>
              </a:ext>
            </a:extLst>
          </p:cNvPr>
          <p:cNvSpPr>
            <a:spLocks xmlns:a="http://schemas.openxmlformats.org/drawingml/2006/main" noGrp="1"/>
          </p:cNvSpPr>
          <p:nvPr/>
        </p:nvSpPr>
        <p:spPr>
          <a:xfrm xmlns:a="http://schemas.openxmlformats.org/drawingml/2006/main">
            <a:off x="8210550" y="1857375"/>
            <a:ext cx="9906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0E4DC"/>
            </a:solidFill>
            <a:prstDash val="solid"/>
          </a:ln>
        </p:spPr>
      </p:sp>
      <p:sp>
        <p:nvSpPr>
          <p:cNvPr id="35" name="">
            <a:extLst xmlns:a="http://schemas.openxmlformats.org/drawingml/2006/main">
              <a:ext uri="{FF2B5EF4-FFF2-40B4-BE49-F238E27FC236}">
                <a16:creationId xmlns:a16="http://schemas.microsoft.com/office/drawing/2014/main" id="{58ADAB64-E50B-4D5B-AA8B-04D70D939272}"/>
              </a:ext>
            </a:extLst>
          </p:cNvPr>
          <p:cNvSpPr>
            <a:spLocks xmlns:a="http://schemas.openxmlformats.org/drawingml/2006/main" noGrp="1"/>
          </p:cNvSpPr>
          <p:nvPr/>
        </p:nvSpPr>
        <p:spPr>
          <a:xfrm xmlns:a="http://schemas.openxmlformats.org/drawingml/2006/main">
            <a:off x="8343900" y="1952625"/>
            <a:ext cx="7239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67C80"/>
                </a:solidFill>
                <a:latin typeface="Aptos Display"/>
                <a:ea typeface="Aptos Display"/>
                <a:cs typeface="Aptos Display"/>
              </a:defRPr>
            </a:pPr>
            <a:r>
              <a:rPr sz="1950" b="1">
                <a:solidFill>
                  <a:srgbClr val="167C80"/>
                </a:solidFill>
                <a:latin typeface="Aptos Display"/>
                <a:ea typeface="Aptos Display"/>
                <a:cs typeface="Aptos Display"/>
              </a:rPr>
              <a:t>555</a:t>
            </a:r>
          </a:p>
        </p:txBody>
      </p:sp>
      <p:sp>
        <p:nvSpPr>
          <p:cNvPr id="36" name="">
            <a:extLst xmlns:a="http://schemas.openxmlformats.org/drawingml/2006/main">
              <a:ext uri="{FF2B5EF4-FFF2-40B4-BE49-F238E27FC236}">
                <a16:creationId xmlns:a16="http://schemas.microsoft.com/office/drawing/2014/main" id="{D4F10E92-4353-4CB8-B491-A52745368931}"/>
              </a:ext>
            </a:extLst>
          </p:cNvPr>
          <p:cNvSpPr>
            <a:spLocks xmlns:a="http://schemas.openxmlformats.org/drawingml/2006/main" noGrp="1"/>
          </p:cNvSpPr>
          <p:nvPr/>
        </p:nvSpPr>
        <p:spPr>
          <a:xfrm xmlns:a="http://schemas.openxmlformats.org/drawingml/2006/main">
            <a:off x="8343900" y="2266950"/>
            <a:ext cx="723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5D6661"/>
                </a:solidFill>
                <a:latin typeface="Aptos"/>
                <a:ea typeface="Aptos"/>
                <a:cs typeface="Aptos"/>
              </a:defRPr>
            </a:pPr>
            <a:r>
              <a:rPr sz="863" b="0">
                <a:solidFill>
                  <a:srgbClr val="5D6661"/>
                </a:solidFill>
                <a:latin typeface="Aptos"/>
                <a:ea typeface="Aptos"/>
                <a:cs typeface="Aptos"/>
              </a:rPr>
              <a:t>leaf classes</a:t>
            </a:r>
          </a:p>
        </p:txBody>
      </p:sp>
      <p:sp>
        <p:nvSpPr>
          <p:cNvPr id="37" name="">
            <a:extLst xmlns:a="http://schemas.openxmlformats.org/drawingml/2006/main">
              <a:ext uri="{FF2B5EF4-FFF2-40B4-BE49-F238E27FC236}">
                <a16:creationId xmlns:a16="http://schemas.microsoft.com/office/drawing/2014/main" id="{6DAD494A-C8D7-43F5-AAC7-7FE6B4E864EE}"/>
              </a:ext>
            </a:extLst>
          </p:cNvPr>
          <p:cNvSpPr>
            <a:spLocks xmlns:a="http://schemas.openxmlformats.org/drawingml/2006/main" noGrp="1"/>
          </p:cNvSpPr>
          <p:nvPr/>
        </p:nvSpPr>
        <p:spPr>
          <a:xfrm xmlns:a="http://schemas.openxmlformats.org/drawingml/2006/main">
            <a:off x="9315450" y="1857375"/>
            <a:ext cx="9906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0E4DC"/>
            </a:solidFill>
            <a:prstDash val="solid"/>
          </a:ln>
        </p:spPr>
      </p:sp>
      <p:sp>
        <p:nvSpPr>
          <p:cNvPr id="38" name="">
            <a:extLst xmlns:a="http://schemas.openxmlformats.org/drawingml/2006/main">
              <a:ext uri="{FF2B5EF4-FFF2-40B4-BE49-F238E27FC236}">
                <a16:creationId xmlns:a16="http://schemas.microsoft.com/office/drawing/2014/main" id="{EEFF922E-A5A0-4E9F-ACEE-CF685072C26A}"/>
              </a:ext>
            </a:extLst>
          </p:cNvPr>
          <p:cNvSpPr>
            <a:spLocks xmlns:a="http://schemas.openxmlformats.org/drawingml/2006/main" noGrp="1"/>
          </p:cNvSpPr>
          <p:nvPr/>
        </p:nvSpPr>
        <p:spPr>
          <a:xfrm xmlns:a="http://schemas.openxmlformats.org/drawingml/2006/main">
            <a:off x="9448800" y="1952625"/>
            <a:ext cx="7239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596AB0"/>
                </a:solidFill>
                <a:latin typeface="Aptos Display"/>
                <a:ea typeface="Aptos Display"/>
                <a:cs typeface="Aptos Display"/>
              </a:defRPr>
            </a:pPr>
            <a:r>
              <a:rPr sz="1950" b="1">
                <a:solidFill>
                  <a:srgbClr val="596AB0"/>
                </a:solidFill>
                <a:latin typeface="Aptos Display"/>
                <a:ea typeface="Aptos Display"/>
                <a:cs typeface="Aptos Display"/>
              </a:rPr>
              <a:t>958</a:t>
            </a:r>
          </a:p>
        </p:txBody>
      </p:sp>
      <p:sp>
        <p:nvSpPr>
          <p:cNvPr id="39" name="">
            <a:extLst xmlns:a="http://schemas.openxmlformats.org/drawingml/2006/main">
              <a:ext uri="{FF2B5EF4-FFF2-40B4-BE49-F238E27FC236}">
                <a16:creationId xmlns:a16="http://schemas.microsoft.com/office/drawing/2014/main" id="{68423B46-3ECB-43EA-B135-6CA051F52CF2}"/>
              </a:ext>
            </a:extLst>
          </p:cNvPr>
          <p:cNvSpPr>
            <a:spLocks xmlns:a="http://schemas.openxmlformats.org/drawingml/2006/main" noGrp="1"/>
          </p:cNvSpPr>
          <p:nvPr/>
        </p:nvSpPr>
        <p:spPr>
          <a:xfrm xmlns:a="http://schemas.openxmlformats.org/drawingml/2006/main">
            <a:off x="9448800" y="2266950"/>
            <a:ext cx="723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5D6661"/>
                </a:solidFill>
                <a:latin typeface="Aptos"/>
                <a:ea typeface="Aptos"/>
                <a:cs typeface="Aptos"/>
              </a:defRPr>
            </a:pPr>
            <a:r>
              <a:rPr sz="863" b="0">
                <a:solidFill>
                  <a:srgbClr val="5D6661"/>
                </a:solidFill>
                <a:latin typeface="Aptos"/>
                <a:ea typeface="Aptos"/>
                <a:cs typeface="Aptos"/>
              </a:rPr>
              <a:t>filled rows</a:t>
            </a:r>
          </a:p>
        </p:txBody>
      </p:sp>
      <p:sp>
        <p:nvSpPr>
          <p:cNvPr id="40" name="">
            <a:extLst xmlns:a="http://schemas.openxmlformats.org/drawingml/2006/main">
              <a:ext uri="{FF2B5EF4-FFF2-40B4-BE49-F238E27FC236}">
                <a16:creationId xmlns:a16="http://schemas.microsoft.com/office/drawing/2014/main" id="{4D2A6DA9-AC90-4AAF-A0DD-BE1BB2DAAF32}"/>
              </a:ext>
            </a:extLst>
          </p:cNvPr>
          <p:cNvSpPr>
            <a:spLocks xmlns:a="http://schemas.openxmlformats.org/drawingml/2006/main" noGrp="1"/>
          </p:cNvSpPr>
          <p:nvPr/>
        </p:nvSpPr>
        <p:spPr>
          <a:xfrm xmlns:a="http://schemas.openxmlformats.org/drawingml/2006/main">
            <a:off x="10420350" y="1857375"/>
            <a:ext cx="9906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0E4DC"/>
            </a:solidFill>
            <a:prstDash val="solid"/>
          </a:ln>
        </p:spPr>
      </p:sp>
      <p:sp>
        <p:nvSpPr>
          <p:cNvPr id="41" name="">
            <a:extLst xmlns:a="http://schemas.openxmlformats.org/drawingml/2006/main">
              <a:ext uri="{FF2B5EF4-FFF2-40B4-BE49-F238E27FC236}">
                <a16:creationId xmlns:a16="http://schemas.microsoft.com/office/drawing/2014/main" id="{4FD2E978-5291-4091-84AE-587C3C22E666}"/>
              </a:ext>
            </a:extLst>
          </p:cNvPr>
          <p:cNvSpPr>
            <a:spLocks xmlns:a="http://schemas.openxmlformats.org/drawingml/2006/main" noGrp="1"/>
          </p:cNvSpPr>
          <p:nvPr/>
        </p:nvSpPr>
        <p:spPr>
          <a:xfrm xmlns:a="http://schemas.openxmlformats.org/drawingml/2006/main">
            <a:off x="10553700" y="1952625"/>
            <a:ext cx="7239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C66A2B"/>
                </a:solidFill>
                <a:latin typeface="Aptos Display"/>
                <a:ea typeface="Aptos Display"/>
                <a:cs typeface="Aptos Display"/>
              </a:defRPr>
            </a:pPr>
            <a:r>
              <a:rPr sz="1950" b="1">
                <a:solidFill>
                  <a:srgbClr val="C66A2B"/>
                </a:solidFill>
                <a:latin typeface="Aptos Display"/>
                <a:ea typeface="Aptos Display"/>
                <a:cs typeface="Aptos Display"/>
              </a:rPr>
              <a:t>1,665</a:t>
            </a:r>
          </a:p>
        </p:txBody>
      </p:sp>
      <p:sp>
        <p:nvSpPr>
          <p:cNvPr id="42" name="">
            <a:extLst xmlns:a="http://schemas.openxmlformats.org/drawingml/2006/main">
              <a:ext uri="{FF2B5EF4-FFF2-40B4-BE49-F238E27FC236}">
                <a16:creationId xmlns:a16="http://schemas.microsoft.com/office/drawing/2014/main" id="{6E62B7D8-95F2-4338-8B15-EADBF4B02E68}"/>
              </a:ext>
            </a:extLst>
          </p:cNvPr>
          <p:cNvSpPr>
            <a:spLocks xmlns:a="http://schemas.openxmlformats.org/drawingml/2006/main" noGrp="1"/>
          </p:cNvSpPr>
          <p:nvPr/>
        </p:nvSpPr>
        <p:spPr>
          <a:xfrm xmlns:a="http://schemas.openxmlformats.org/drawingml/2006/main">
            <a:off x="10553700" y="2266950"/>
            <a:ext cx="723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5D6661"/>
                </a:solidFill>
                <a:latin typeface="Aptos"/>
                <a:ea typeface="Aptos"/>
                <a:cs typeface="Aptos"/>
              </a:defRPr>
            </a:pPr>
            <a:r>
              <a:rPr sz="863" b="0">
                <a:solidFill>
                  <a:srgbClr val="5D6661"/>
                </a:solidFill>
                <a:latin typeface="Aptos"/>
                <a:ea typeface="Aptos"/>
                <a:cs typeface="Aptos"/>
              </a:rPr>
              <a:t>prompt rows</a:t>
            </a:r>
          </a:p>
        </p:txBody>
      </p:sp>
      <p:sp>
        <p:nvSpPr>
          <p:cNvPr id="43" name="">
            <a:extLst xmlns:a="http://schemas.openxmlformats.org/drawingml/2006/main">
              <a:ext uri="{FF2B5EF4-FFF2-40B4-BE49-F238E27FC236}">
                <a16:creationId xmlns:a16="http://schemas.microsoft.com/office/drawing/2014/main" id="{E4CEFC5C-1B15-4271-BE0E-045987A1A249}"/>
              </a:ext>
            </a:extLst>
          </p:cNvPr>
          <p:cNvSpPr>
            <a:spLocks xmlns:a="http://schemas.openxmlformats.org/drawingml/2006/main" noGrp="1"/>
          </p:cNvSpPr>
          <p:nvPr/>
        </p:nvSpPr>
        <p:spPr>
          <a:xfrm xmlns:a="http://schemas.openxmlformats.org/drawingml/2006/main">
            <a:off x="7981950" y="3486150"/>
            <a:ext cx="3657600" cy="1866900"/>
          </a:xfrm>
          <a:prstGeom xmlns:a="http://schemas.openxmlformats.org/drawingml/2006/main" prst="rect">
            <a:avLst/>
          </a:prstGeom>
          <a:solidFill xmlns:a="http://schemas.openxmlformats.org/drawingml/2006/main">
            <a:srgbClr val="FFFFFF"/>
          </a:solidFill>
          <a:ln xmlns:a="http://schemas.openxmlformats.org/drawingml/2006/main" w="9525">
            <a:solidFill>
              <a:srgbClr val="E0E4DC"/>
            </a:solidFill>
            <a:prstDash val="solid"/>
          </a:ln>
        </p:spPr>
      </p:sp>
      <p:sp>
        <p:nvSpPr>
          <p:cNvPr id="44" name="">
            <a:extLst xmlns:a="http://schemas.openxmlformats.org/drawingml/2006/main">
              <a:ext uri="{FF2B5EF4-FFF2-40B4-BE49-F238E27FC236}">
                <a16:creationId xmlns:a16="http://schemas.microsoft.com/office/drawing/2014/main" id="{D628C73F-23A1-4CC1-9F86-B963E1798987}"/>
              </a:ext>
            </a:extLst>
          </p:cNvPr>
          <p:cNvSpPr>
            <a:spLocks xmlns:a="http://schemas.openxmlformats.org/drawingml/2006/main" noGrp="1"/>
          </p:cNvSpPr>
          <p:nvPr/>
        </p:nvSpPr>
        <p:spPr>
          <a:xfrm xmlns:a="http://schemas.openxmlformats.org/drawingml/2006/main">
            <a:off x="8210550" y="3676650"/>
            <a:ext cx="2286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E5558"/>
                </a:solidFill>
                <a:latin typeface="Aptos"/>
                <a:ea typeface="Aptos"/>
                <a:cs typeface="Aptos"/>
              </a:defRPr>
            </a:pPr>
            <a:r>
              <a:rPr sz="975" b="1">
                <a:solidFill>
                  <a:srgbClr val="0E5558"/>
                </a:solidFill>
                <a:latin typeface="Aptos"/>
                <a:ea typeface="Aptos"/>
                <a:cs typeface="Aptos"/>
              </a:rPr>
              <a:t>Prompt example</a:t>
            </a:r>
          </a:p>
        </p:txBody>
      </p:sp>
      <p:sp>
        <p:nvSpPr>
          <p:cNvPr id="45" name="">
            <a:extLst xmlns:a="http://schemas.openxmlformats.org/drawingml/2006/main">
              <a:ext uri="{FF2B5EF4-FFF2-40B4-BE49-F238E27FC236}">
                <a16:creationId xmlns:a16="http://schemas.microsoft.com/office/drawing/2014/main" id="{6F0AECBB-5EB3-45D3-A052-BF02A303B660}"/>
              </a:ext>
            </a:extLst>
          </p:cNvPr>
          <p:cNvSpPr>
            <a:spLocks xmlns:a="http://schemas.openxmlformats.org/drawingml/2006/main" noGrp="1"/>
          </p:cNvSpPr>
          <p:nvPr/>
        </p:nvSpPr>
        <p:spPr>
          <a:xfrm xmlns:a="http://schemas.openxmlformats.org/drawingml/2006/main">
            <a:off x="8210550" y="4000500"/>
            <a:ext cx="3143250" cy="895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16211F"/>
                </a:solidFill>
                <a:latin typeface="Aptos"/>
                <a:ea typeface="Aptos"/>
                <a:cs typeface="Aptos"/>
              </a:defRPr>
            </a:pPr>
            <a:r>
              <a:rPr sz="1050" b="1">
                <a:solidFill>
                  <a:srgbClr val="16211F"/>
                </a:solidFill>
                <a:latin typeface="Aptos"/>
                <a:ea typeface="Aptos"/>
                <a:cs typeface="Aptos"/>
              </a:rPr>
              <a:t>Broad-billed Hummingbird (Adult Male): small body, long straight bill, long straight tail, rich green plumage, blue throat, red bill, golden-green upperparts.</a:t>
            </a:r>
          </a:p>
        </p:txBody>
      </p:sp>
      <p:sp>
        <p:nvSpPr>
          <p:cNvPr id="46" name="">
            <a:extLst xmlns:a="http://schemas.openxmlformats.org/drawingml/2006/main">
              <a:ext uri="{FF2B5EF4-FFF2-40B4-BE49-F238E27FC236}">
                <a16:creationId xmlns:a16="http://schemas.microsoft.com/office/drawing/2014/main" id="{455A1768-AED2-4142-A4D8-F43DEC119474}"/>
              </a:ext>
            </a:extLst>
          </p:cNvPr>
          <p:cNvSpPr>
            <a:spLocks xmlns:a="http://schemas.openxmlformats.org/drawingml/2006/main" noGrp="1"/>
          </p:cNvSpPr>
          <p:nvPr/>
        </p:nvSpPr>
        <p:spPr>
          <a:xfrm xmlns:a="http://schemas.openxmlformats.org/drawingml/2006/main">
            <a:off x="8210550" y="4933950"/>
            <a:ext cx="3124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85" b="0">
                <a:solidFill>
                  <a:srgbClr val="5D6661"/>
                </a:solidFill>
                <a:latin typeface="Aptos"/>
                <a:ea typeface="Aptos"/>
                <a:cs typeface="Aptos"/>
              </a:defRPr>
            </a:pPr>
            <a:r>
              <a:rPr sz="885" b="0">
                <a:solidFill>
                  <a:srgbClr val="5D6661"/>
                </a:solidFill>
                <a:latin typeface="Aptos"/>
                <a:ea typeface="Aptos"/>
                <a:cs typeface="Aptos"/>
              </a:rPr>
              <a:t>Policy: preserve labels like Adult male, Female/juvenile, Immature, Breeding, and Nonbreeding.</a:t>
            </a:r>
          </a:p>
        </p:txBody>
      </p:sp>
      <p:sp>
        <p:nvSpPr>
          <p:cNvPr id="47" name="">
            <a:extLst xmlns:a="http://schemas.openxmlformats.org/drawingml/2006/main">
              <a:ext uri="{FF2B5EF4-FFF2-40B4-BE49-F238E27FC236}">
                <a16:creationId xmlns:a16="http://schemas.microsoft.com/office/drawing/2014/main" id="{86D143E5-1AF6-4807-BF4C-AA294A7C847A}"/>
              </a:ext>
            </a:extLst>
          </p:cNvPr>
          <p:cNvSpPr>
            <a:spLocks xmlns:a="http://schemas.openxmlformats.org/drawingml/2006/main" noGrp="1"/>
          </p:cNvSpPr>
          <p:nvPr/>
        </p:nvSpPr>
        <p:spPr>
          <a:xfrm xmlns:a="http://schemas.openxmlformats.org/drawingml/2006/main">
            <a:off x="552450" y="4705350"/>
            <a:ext cx="7048500" cy="819150"/>
          </a:xfrm>
          <a:prstGeom xmlns:a="http://schemas.openxmlformats.org/drawingml/2006/main" prst="rect">
            <a:avLst/>
          </a:prstGeom>
          <a:solidFill xmlns:a="http://schemas.openxmlformats.org/drawingml/2006/main">
            <a:srgbClr val="FFFFFF"/>
          </a:solidFill>
          <a:ln xmlns:a="http://schemas.openxmlformats.org/drawingml/2006/main" w="9525">
            <a:solidFill>
              <a:srgbClr val="E0E4DC"/>
            </a:solidFill>
            <a:prstDash val="solid"/>
          </a:ln>
        </p:spPr>
      </p:sp>
      <p:sp>
        <p:nvSpPr>
          <p:cNvPr id="48" name="">
            <a:extLst xmlns:a="http://schemas.openxmlformats.org/drawingml/2006/main">
              <a:ext uri="{FF2B5EF4-FFF2-40B4-BE49-F238E27FC236}">
                <a16:creationId xmlns:a16="http://schemas.microsoft.com/office/drawing/2014/main" id="{73CEDA73-FF9A-473E-916C-D6B1BB69078F}"/>
              </a:ext>
            </a:extLst>
          </p:cNvPr>
          <p:cNvSpPr>
            <a:spLocks xmlns:a="http://schemas.openxmlformats.org/drawingml/2006/main" noGrp="1"/>
          </p:cNvSpPr>
          <p:nvPr/>
        </p:nvSpPr>
        <p:spPr>
          <a:xfrm xmlns:a="http://schemas.openxmlformats.org/drawingml/2006/main">
            <a:off x="800100" y="4933950"/>
            <a:ext cx="361950" cy="361950"/>
          </a:xfrm>
          <a:prstGeom xmlns:a="http://schemas.openxmlformats.org/drawingml/2006/main" prst="rect">
            <a:avLst/>
          </a:prstGeom>
          <a:solidFill xmlns:a="http://schemas.openxmlformats.org/drawingml/2006/main">
            <a:srgbClr val="F2F6F3"/>
          </a:solidFill>
          <a:ln xmlns:a="http://schemas.openxmlformats.org/drawingml/2006/main" w="9525">
            <a:solidFill>
              <a:srgbClr val="D4DED7"/>
            </a:solidFill>
            <a:prstDash val="solid"/>
          </a:ln>
        </p:spPr>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612ada42763a4442">
            <a:extLst>
              <a:ext uri="{96DAC541-7B7A-43D3-8B79-37D633B846F1}">
                <asvg:svgBlip xmlns:asvg="http://schemas.microsoft.com/office/drawing/2016/SVG/main" r:embed="Rba3338bc378846f7"/>
              </a:ext>
            </a:extLst>
          </a:blip>
          <a:stretch xmlns:a="http://schemas.openxmlformats.org/drawingml/2006/main"/>
        </p:blipFill>
        <p:spPr>
          <a:xfrm xmlns:a="http://schemas.openxmlformats.org/drawingml/2006/main">
            <a:off x="885825" y="5019675"/>
            <a:ext cx="190500" cy="190500"/>
          </a:xfrm>
          <a:prstGeom xmlns:a="http://schemas.openxmlformats.org/drawingml/2006/main" prst="rect">
            <a:avLst/>
          </a:prstGeom>
        </p:spPr>
      </p:pic>
      <p:sp>
        <p:nvSpPr>
          <p:cNvPr id="50" name="">
            <a:extLst xmlns:a="http://schemas.openxmlformats.org/drawingml/2006/main">
              <a:ext uri="{FF2B5EF4-FFF2-40B4-BE49-F238E27FC236}">
                <a16:creationId xmlns:a16="http://schemas.microsoft.com/office/drawing/2014/main" id="{09E8F5EC-FDD4-4355-9E51-B939000CEE05}"/>
              </a:ext>
            </a:extLst>
          </p:cNvPr>
          <p:cNvSpPr>
            <a:spLocks xmlns:a="http://schemas.openxmlformats.org/drawingml/2006/main" noGrp="1"/>
          </p:cNvSpPr>
          <p:nvPr/>
        </p:nvSpPr>
        <p:spPr>
          <a:xfrm xmlns:a="http://schemas.openxmlformats.org/drawingml/2006/main">
            <a:off x="1276350" y="4924425"/>
            <a:ext cx="5905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10" b="1">
                <a:solidFill>
                  <a:srgbClr val="16211F"/>
                </a:solidFill>
                <a:latin typeface="Aptos"/>
                <a:ea typeface="Aptos"/>
                <a:cs typeface="Aptos"/>
              </a:defRPr>
            </a:pPr>
            <a:r>
              <a:rPr sz="1110" b="1">
                <a:solidFill>
                  <a:srgbClr val="16211F"/>
                </a:solidFill>
                <a:latin typeface="Aptos"/>
                <a:ea typeface="Aptos"/>
                <a:cs typeface="Aptos"/>
              </a:rPr>
              <a:t>Embedding cache is now part of the experiment contract</a:t>
            </a:r>
          </a:p>
        </p:txBody>
      </p:sp>
      <p:sp>
        <p:nvSpPr>
          <p:cNvPr id="51" name="">
            <a:extLst xmlns:a="http://schemas.openxmlformats.org/drawingml/2006/main">
              <a:ext uri="{FF2B5EF4-FFF2-40B4-BE49-F238E27FC236}">
                <a16:creationId xmlns:a16="http://schemas.microsoft.com/office/drawing/2014/main" id="{D4FECAF1-535F-4841-A734-C318D3991091}"/>
              </a:ext>
            </a:extLst>
          </p:cNvPr>
          <p:cNvSpPr>
            <a:spLocks xmlns:a="http://schemas.openxmlformats.org/drawingml/2006/main" noGrp="1"/>
          </p:cNvSpPr>
          <p:nvPr/>
        </p:nvSpPr>
        <p:spPr>
          <a:xfrm xmlns:a="http://schemas.openxmlformats.org/drawingml/2006/main">
            <a:off x="1276350" y="5143500"/>
            <a:ext cx="5905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85" b="0">
                <a:solidFill>
                  <a:srgbClr val="5D6661"/>
                </a:solidFill>
                <a:latin typeface="Aptos"/>
                <a:ea typeface="Aptos"/>
                <a:cs typeface="Aptos"/>
              </a:defRPr>
            </a:pPr>
            <a:r>
              <a:rPr sz="885" b="0">
                <a:solidFill>
                  <a:srgbClr val="5D6661"/>
                </a:solidFill>
                <a:latin typeface="Aptos"/>
                <a:ea typeface="Aptos"/>
                <a:cs typeface="Aptos"/>
              </a:rPr>
              <a:t>Text and image embeddings are written to Modal volume paths before scoring, so reruns can evaluate new prompt sets without recomputing image features.</a:t>
            </a:r>
          </a:p>
        </p:txBody>
      </p:sp>
      <p:sp>
        <p:nvSpPr>
          <p:cNvPr id="52" name="">
            <a:extLst xmlns:a="http://schemas.openxmlformats.org/drawingml/2006/main">
              <a:ext uri="{FF2B5EF4-FFF2-40B4-BE49-F238E27FC236}">
                <a16:creationId xmlns:a16="http://schemas.microsoft.com/office/drawing/2014/main" id="{BC317922-7736-49A3-8E92-CFAE9475E804}"/>
              </a:ext>
            </a:extLst>
          </p:cNvPr>
          <p:cNvSpPr>
            <a:spLocks xmlns:a="http://schemas.openxmlformats.org/drawingml/2006/main" noGrp="1"/>
          </p:cNvSpPr>
          <p:nvPr/>
        </p:nvSpPr>
        <p:spPr>
          <a:xfrm xmlns:a="http://schemas.openxmlformats.org/drawingml/2006/main">
            <a:off x="7981950" y="5524500"/>
            <a:ext cx="3657600" cy="647700"/>
          </a:xfrm>
          <a:prstGeom xmlns:a="http://schemas.openxmlformats.org/drawingml/2006/main" prst="rect">
            <a:avLst/>
          </a:prstGeom>
          <a:solidFill xmlns:a="http://schemas.openxmlformats.org/drawingml/2006/main">
            <a:srgbClr val="F7EAEE"/>
          </a:solidFill>
          <a:ln xmlns:a="http://schemas.openxmlformats.org/drawingml/2006/main" w="9525">
            <a:solidFill>
              <a:srgbClr val="E5C8D1"/>
            </a:solidFill>
            <a:prstDash val="solid"/>
          </a:ln>
        </p:spPr>
      </p:sp>
      <p:sp>
        <p:nvSpPr>
          <p:cNvPr id="53" name="">
            <a:extLst xmlns:a="http://schemas.openxmlformats.org/drawingml/2006/main">
              <a:ext uri="{FF2B5EF4-FFF2-40B4-BE49-F238E27FC236}">
                <a16:creationId xmlns:a16="http://schemas.microsoft.com/office/drawing/2014/main" id="{DE1D98A9-C517-4DF7-B26E-26A636E0E61E}"/>
              </a:ext>
            </a:extLst>
          </p:cNvPr>
          <p:cNvSpPr>
            <a:spLocks xmlns:a="http://schemas.openxmlformats.org/drawingml/2006/main" noGrp="1"/>
          </p:cNvSpPr>
          <p:nvPr/>
        </p:nvSpPr>
        <p:spPr>
          <a:xfrm xmlns:a="http://schemas.openxmlformats.org/drawingml/2006/main">
            <a:off x="8115300" y="5638800"/>
            <a:ext cx="33909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90" b="1">
                <a:solidFill>
                  <a:srgbClr val="16211F"/>
                </a:solidFill>
                <a:latin typeface="Aptos"/>
                <a:ea typeface="Aptos"/>
                <a:cs typeface="Aptos"/>
              </a:defRPr>
            </a:pPr>
            <a:r>
              <a:rPr sz="990" b="1">
                <a:solidFill>
                  <a:srgbClr val="16211F"/>
                </a:solidFill>
                <a:latin typeface="Aptos"/>
                <a:ea typeface="Aptos"/>
                <a:cs typeface="Aptos"/>
              </a:rPr>
              <a:t>Known issue: 279 classes are variant labels sharing base-species descriptors, so descriptor prompts can blur the exact sex/age/morph target.</a:t>
            </a:r>
          </a:p>
        </p:txBody>
      </p:sp>
      <p:sp>
        <p:nvSpPr>
          <p:cNvPr id="54" name="">
            <a:extLst xmlns:a="http://schemas.openxmlformats.org/drawingml/2006/main">
              <a:ext uri="{FF2B5EF4-FFF2-40B4-BE49-F238E27FC236}">
                <a16:creationId xmlns:a16="http://schemas.microsoft.com/office/drawing/2014/main" id="{0BC199FE-A039-4938-AEAA-5E4544FC4541}"/>
              </a:ext>
            </a:extLst>
          </p:cNvPr>
          <p:cNvSpPr>
            <a:spLocks xmlns:a="http://schemas.openxmlformats.org/drawingml/2006/main" noGrp="1"/>
          </p:cNvSpPr>
          <p:nvPr/>
        </p:nvSpPr>
        <p:spPr>
          <a:xfrm xmlns:a="http://schemas.openxmlformats.org/drawingml/2006/main">
            <a:off x="514350" y="6534150"/>
            <a:ext cx="10477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78817B"/>
                </a:solidFill>
                <a:latin typeface="Aptos"/>
                <a:ea typeface="Aptos"/>
                <a:cs typeface="Aptos"/>
              </a:defRPr>
            </a:pPr>
            <a:r>
              <a:rPr sz="713" b="0">
                <a:solidFill>
                  <a:srgbClr val="78817B"/>
                </a:solidFill>
                <a:latin typeface="Aptos"/>
                <a:ea typeface="Aptos"/>
                <a:cs typeface="Aptos"/>
              </a:rPr>
              <a:t>Sources: reports/milestone3/nabirds_descriptor_prompts.csv; descriptor_prompt_summary.json; Modal cached feature manifests.</a:t>
            </a:r>
          </a:p>
        </p:txBody>
      </p:sp>
    </p:spTree>
    <p:extLst>
      <p:ext uri="{BB962C8B-B14F-4D97-AF65-F5344CB8AC3E}">
        <p14:creationId xmlns:p14="http://schemas.microsoft.com/office/powerpoint/2010/main" val="33666038"/>
      </p:ext>
    </p:extLst>
  </p:cSld>
</p:sld>
</file>

<file path=ppt/slides/slide3.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079EEA9-8578-460A-AFDF-D21E8B3A1ECD}"/>
              </a:ext>
            </a:extLst>
          </p:cNvPr>
          <p:cNvSpPr>
            <a:spLocks xmlns:a="http://schemas.openxmlformats.org/drawingml/2006/main" noGrp="1"/>
          </p:cNvSpPr>
          <p:nvPr/>
        </p:nvSpPr>
        <p:spPr>
          <a:xfrm xmlns:a="http://schemas.openxmlformats.org/drawingml/2006/main">
            <a:off x="514350" y="304800"/>
            <a:ext cx="5334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E5558"/>
                </a:solidFill>
                <a:latin typeface="Aptos"/>
                <a:ea typeface="Aptos"/>
                <a:cs typeface="Aptos"/>
              </a:defRPr>
            </a:pPr>
            <a:r>
              <a:rPr sz="900" b="1">
                <a:solidFill>
                  <a:srgbClr val="0E5558"/>
                </a:solidFill>
                <a:latin typeface="Aptos"/>
                <a:ea typeface="Aptos"/>
                <a:cs typeface="Aptos"/>
              </a:rPr>
              <a:t>ERROR ANALYSIS</a:t>
            </a:r>
          </a:p>
        </p:txBody>
      </p:sp>
      <p:sp>
        <p:nvSpPr>
          <p:cNvPr id="2" name="">
            <a:extLst xmlns:a="http://schemas.openxmlformats.org/drawingml/2006/main">
              <a:ext uri="{FF2B5EF4-FFF2-40B4-BE49-F238E27FC236}">
                <a16:creationId xmlns:a16="http://schemas.microsoft.com/office/drawing/2014/main" id="{F6036A12-3909-471C-B0CF-0F5861EE51C2}"/>
              </a:ext>
            </a:extLst>
          </p:cNvPr>
          <p:cNvSpPr>
            <a:spLocks xmlns:a="http://schemas.openxmlformats.org/drawingml/2006/main" noGrp="1"/>
          </p:cNvSpPr>
          <p:nvPr/>
        </p:nvSpPr>
        <p:spPr>
          <a:xfrm xmlns:a="http://schemas.openxmlformats.org/drawingml/2006/main">
            <a:off x="514350" y="552450"/>
            <a:ext cx="94297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6211F"/>
                </a:solidFill>
                <a:latin typeface="Aptos Display"/>
                <a:ea typeface="Aptos Display"/>
                <a:cs typeface="Aptos Display"/>
              </a:defRPr>
            </a:pPr>
            <a:r>
              <a:rPr sz="2175" b="1">
                <a:solidFill>
                  <a:srgbClr val="16211F"/>
                </a:solidFill>
                <a:latin typeface="Aptos Display"/>
                <a:ea typeface="Aptos Display"/>
                <a:cs typeface="Aptos Display"/>
              </a:rPr>
              <a:t>Remaining errors concentrate in variants and near-neighbor species</a:t>
            </a:r>
          </a:p>
        </p:txBody>
      </p:sp>
      <p:sp>
        <p:nvSpPr>
          <p:cNvPr id="3" name="">
            <a:extLst xmlns:a="http://schemas.openxmlformats.org/drawingml/2006/main">
              <a:ext uri="{FF2B5EF4-FFF2-40B4-BE49-F238E27FC236}">
                <a16:creationId xmlns:a16="http://schemas.microsoft.com/office/drawing/2014/main" id="{FAFEEE96-4AE5-4176-BCA5-575A19E227C1}"/>
              </a:ext>
            </a:extLst>
          </p:cNvPr>
          <p:cNvSpPr>
            <a:spLocks xmlns:a="http://schemas.openxmlformats.org/drawingml/2006/main" noGrp="1"/>
          </p:cNvSpPr>
          <p:nvPr/>
        </p:nvSpPr>
        <p:spPr>
          <a:xfrm xmlns:a="http://schemas.openxmlformats.org/drawingml/2006/main">
            <a:off x="533400" y="1257300"/>
            <a:ext cx="90487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0">
                <a:solidFill>
                  <a:srgbClr val="5D6661"/>
                </a:solidFill>
                <a:latin typeface="Aptos"/>
                <a:ea typeface="Aptos"/>
                <a:cs typeface="Aptos"/>
              </a:defRPr>
            </a:pPr>
            <a:r>
              <a:rPr sz="1163" b="0">
                <a:solidFill>
                  <a:srgbClr val="5D6661"/>
                </a:solidFill>
                <a:latin typeface="Aptos"/>
                <a:ea typeface="Aptos"/>
                <a:cs typeface="Aptos"/>
              </a:rPr>
              <a:t>The CLIP baseline fails in places a human field guide would also flag: sex/age labels, seasonal plumage, morphs, and look-alike species.</a:t>
            </a:r>
          </a:p>
        </p:txBody>
      </p:sp>
      <p:sp>
        <p:nvSpPr>
          <p:cNvPr id="4" name="">
            <a:extLst xmlns:a="http://schemas.openxmlformats.org/drawingml/2006/main">
              <a:ext uri="{FF2B5EF4-FFF2-40B4-BE49-F238E27FC236}">
                <a16:creationId xmlns:a16="http://schemas.microsoft.com/office/drawing/2014/main" id="{942F5D21-94CC-41E4-896F-C634FF7FC712}"/>
              </a:ext>
            </a:extLst>
          </p:cNvPr>
          <p:cNvSpPr>
            <a:spLocks xmlns:a="http://schemas.openxmlformats.org/drawingml/2006/main" noGrp="1"/>
          </p:cNvSpPr>
          <p:nvPr/>
        </p:nvSpPr>
        <p:spPr>
          <a:xfrm xmlns:a="http://schemas.openxmlformats.org/drawingml/2006/main">
            <a:off x="514350" y="1562100"/>
            <a:ext cx="5162550" cy="4095750"/>
          </a:xfrm>
          <a:prstGeom xmlns:a="http://schemas.openxmlformats.org/drawingml/2006/main" prst="rect">
            <a:avLst/>
          </a:prstGeom>
          <a:solidFill xmlns:a="http://schemas.openxmlformats.org/drawingml/2006/main">
            <a:srgbClr val="FFFFFF"/>
          </a:solidFill>
          <a:ln xmlns:a="http://schemas.openxmlformats.org/drawingml/2006/main" w="9525">
            <a:solidFill>
              <a:srgbClr val="E0E4DC"/>
            </a:solidFill>
            <a:prstDash val="solid"/>
          </a:ln>
        </p:spPr>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ae280fd42f5c494d"/>
          <a:stretch xmlns:a="http://schemas.openxmlformats.org/drawingml/2006/main"/>
        </p:blipFill>
        <p:spPr>
          <a:xfrm xmlns:a="http://schemas.openxmlformats.org/drawingml/2006/main">
            <a:off x="1108258" y="1733550"/>
            <a:ext cx="3974734" cy="36385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A803AED-0ADC-4C8D-B532-FD6BEEA6AD31}"/>
              </a:ext>
            </a:extLst>
          </p:cNvPr>
          <p:cNvSpPr>
            <a:spLocks xmlns:a="http://schemas.openxmlformats.org/drawingml/2006/main" noGrp="1"/>
          </p:cNvSpPr>
          <p:nvPr/>
        </p:nvSpPr>
        <p:spPr>
          <a:xfrm xmlns:a="http://schemas.openxmlformats.org/drawingml/2006/main">
            <a:off x="742950" y="5391150"/>
            <a:ext cx="4381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85" b="1">
                <a:solidFill>
                  <a:srgbClr val="5D6661"/>
                </a:solidFill>
                <a:latin typeface="Aptos"/>
                <a:ea typeface="Aptos"/>
                <a:cs typeface="Aptos"/>
              </a:defRPr>
            </a:pPr>
            <a:r>
              <a:rPr sz="885" b="1">
                <a:solidFill>
                  <a:srgbClr val="5D6661"/>
                </a:solidFill>
                <a:latin typeface="Aptos"/>
                <a:ea typeface="Aptos"/>
                <a:cs typeface="Aptos"/>
              </a:rPr>
              <a:t>Sample CLIP mistakes from the official test split</a:t>
            </a:r>
          </a:p>
        </p:txBody>
      </p:sp>
      <p:sp>
        <p:nvSpPr>
          <p:cNvPr id="7" name="">
            <a:extLst xmlns:a="http://schemas.openxmlformats.org/drawingml/2006/main">
              <a:ext uri="{FF2B5EF4-FFF2-40B4-BE49-F238E27FC236}">
                <a16:creationId xmlns:a16="http://schemas.microsoft.com/office/drawing/2014/main" id="{2F77C4A9-5B22-408A-8C16-209001BFD8E4}"/>
              </a:ext>
            </a:extLst>
          </p:cNvPr>
          <p:cNvSpPr>
            <a:spLocks xmlns:a="http://schemas.openxmlformats.org/drawingml/2006/main" noGrp="1"/>
          </p:cNvSpPr>
          <p:nvPr/>
        </p:nvSpPr>
        <p:spPr>
          <a:xfrm xmlns:a="http://schemas.openxmlformats.org/drawingml/2006/main">
            <a:off x="5962650" y="1562100"/>
            <a:ext cx="5676900" cy="3009900"/>
          </a:xfrm>
          <a:prstGeom xmlns:a="http://schemas.openxmlformats.org/drawingml/2006/main" prst="rect">
            <a:avLst/>
          </a:prstGeom>
          <a:solidFill xmlns:a="http://schemas.openxmlformats.org/drawingml/2006/main">
            <a:srgbClr val="FFFFFF"/>
          </a:solidFill>
          <a:ln xmlns:a="http://schemas.openxmlformats.org/drawingml/2006/main" w="9525">
            <a:solidFill>
              <a:srgbClr val="E0E4DC"/>
            </a:solidFill>
            <a:prstDash val="solid"/>
          </a:ln>
        </p:spPr>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8e8a2708d8234ff3"/>
          <a:stretch xmlns:a="http://schemas.openxmlformats.org/drawingml/2006/main"/>
        </p:blipFill>
        <p:spPr>
          <a:xfrm xmlns:a="http://schemas.openxmlformats.org/drawingml/2006/main">
            <a:off x="6172200" y="2037922"/>
            <a:ext cx="5257800" cy="1963007"/>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6CBED1EA-0989-45F7-807F-6B5F89154C3F}"/>
              </a:ext>
            </a:extLst>
          </p:cNvPr>
          <p:cNvSpPr>
            <a:spLocks xmlns:a="http://schemas.openxmlformats.org/drawingml/2006/main" noGrp="1"/>
          </p:cNvSpPr>
          <p:nvPr/>
        </p:nvSpPr>
        <p:spPr>
          <a:xfrm xmlns:a="http://schemas.openxmlformats.org/drawingml/2006/main">
            <a:off x="5962650" y="4819650"/>
            <a:ext cx="567690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E0E4DC"/>
            </a:solidFill>
            <a:prstDash val="solid"/>
          </a:ln>
        </p:spPr>
      </p:sp>
      <p:sp>
        <p:nvSpPr>
          <p:cNvPr id="10" name="">
            <a:extLst xmlns:a="http://schemas.openxmlformats.org/drawingml/2006/main">
              <a:ext uri="{FF2B5EF4-FFF2-40B4-BE49-F238E27FC236}">
                <a16:creationId xmlns:a16="http://schemas.microsoft.com/office/drawing/2014/main" id="{C63C9C3B-DD01-4899-BB69-5166BD8285F8}"/>
              </a:ext>
            </a:extLst>
          </p:cNvPr>
          <p:cNvSpPr>
            <a:spLocks xmlns:a="http://schemas.openxmlformats.org/drawingml/2006/main" noGrp="1"/>
          </p:cNvSpPr>
          <p:nvPr/>
        </p:nvSpPr>
        <p:spPr>
          <a:xfrm xmlns:a="http://schemas.openxmlformats.org/drawingml/2006/main">
            <a:off x="6191250" y="4991100"/>
            <a:ext cx="2857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E5558"/>
                </a:solidFill>
                <a:latin typeface="Aptos"/>
                <a:ea typeface="Aptos"/>
                <a:cs typeface="Aptos"/>
              </a:defRPr>
            </a:pPr>
            <a:r>
              <a:rPr sz="975" b="1">
                <a:solidFill>
                  <a:srgbClr val="0E5558"/>
                </a:solidFill>
                <a:latin typeface="Aptos"/>
                <a:ea typeface="Aptos"/>
                <a:cs typeface="Aptos"/>
              </a:rPr>
              <a:t>Highest-count confusion examples</a:t>
            </a:r>
          </a:p>
        </p:txBody>
      </p:sp>
      <p:sp>
        <p:nvSpPr>
          <p:cNvPr id="11" name="">
            <a:extLst xmlns:a="http://schemas.openxmlformats.org/drawingml/2006/main">
              <a:ext uri="{FF2B5EF4-FFF2-40B4-BE49-F238E27FC236}">
                <a16:creationId xmlns:a16="http://schemas.microsoft.com/office/drawing/2014/main" id="{95C9A0C7-736F-40A9-95B1-5E95ED3F3EBB}"/>
              </a:ext>
            </a:extLst>
          </p:cNvPr>
          <p:cNvSpPr>
            <a:spLocks xmlns:a="http://schemas.openxmlformats.org/drawingml/2006/main" noGrp="1"/>
          </p:cNvSpPr>
          <p:nvPr/>
        </p:nvSpPr>
        <p:spPr>
          <a:xfrm xmlns:a="http://schemas.openxmlformats.org/drawingml/2006/main">
            <a:off x="6191250" y="5257800"/>
            <a:ext cx="49911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45" b="0">
                <a:solidFill>
                  <a:srgbClr val="16211F"/>
                </a:solidFill>
                <a:latin typeface="Aptos"/>
                <a:ea typeface="Aptos"/>
                <a:cs typeface="Aptos"/>
              </a:defRPr>
            </a:pPr>
            <a:r>
              <a:rPr sz="945" b="0">
                <a:solidFill>
                  <a:srgbClr val="16211F"/>
                </a:solidFill>
                <a:latin typeface="Aptos"/>
                <a:ea typeface="Aptos"/>
                <a:cs typeface="Aptos"/>
              </a:rPr>
              <a:t>Allen's vs Rufous hummingbird; Wood Duck and Mallard male vs female/eclipse; Yellow- vs Red-shafted Flicker; Spotted Sandpiper breeding vs nonbreeding/juvenile; Western vs Eastern Meadowlark.</a:t>
            </a:r>
          </a:p>
        </p:txBody>
      </p:sp>
      <p:sp>
        <p:nvSpPr>
          <p:cNvPr id="12" name="">
            <a:extLst xmlns:a="http://schemas.openxmlformats.org/drawingml/2006/main">
              <a:ext uri="{FF2B5EF4-FFF2-40B4-BE49-F238E27FC236}">
                <a16:creationId xmlns:a16="http://schemas.microsoft.com/office/drawing/2014/main" id="{1666DAFB-5C7E-412E-B081-187F6A102D51}"/>
              </a:ext>
            </a:extLst>
          </p:cNvPr>
          <p:cNvSpPr>
            <a:spLocks xmlns:a="http://schemas.openxmlformats.org/drawingml/2006/main" noGrp="1"/>
          </p:cNvSpPr>
          <p:nvPr/>
        </p:nvSpPr>
        <p:spPr>
          <a:xfrm xmlns:a="http://schemas.openxmlformats.org/drawingml/2006/main">
            <a:off x="514350" y="5867400"/>
            <a:ext cx="11125200" cy="438150"/>
          </a:xfrm>
          <a:prstGeom xmlns:a="http://schemas.openxmlformats.org/drawingml/2006/main" prst="rect">
            <a:avLst/>
          </a:prstGeom>
          <a:solidFill xmlns:a="http://schemas.openxmlformats.org/drawingml/2006/main">
            <a:srgbClr val="F8F0DE"/>
          </a:solidFill>
          <a:ln xmlns:a="http://schemas.openxmlformats.org/drawingml/2006/main" w="9525">
            <a:solidFill>
              <a:srgbClr val="E5D2A4"/>
            </a:solidFill>
            <a:prstDash val="solid"/>
          </a:ln>
        </p:spPr>
      </p:sp>
      <p:sp>
        <p:nvSpPr>
          <p:cNvPr id="13" name="">
            <a:extLst xmlns:a="http://schemas.openxmlformats.org/drawingml/2006/main">
              <a:ext uri="{FF2B5EF4-FFF2-40B4-BE49-F238E27FC236}">
                <a16:creationId xmlns:a16="http://schemas.microsoft.com/office/drawing/2014/main" id="{0CAC6FC9-6692-4C10-9506-4027EADF2E9E}"/>
              </a:ext>
            </a:extLst>
          </p:cNvPr>
          <p:cNvSpPr>
            <a:spLocks xmlns:a="http://schemas.openxmlformats.org/drawingml/2006/main" noGrp="1"/>
          </p:cNvSpPr>
          <p:nvPr/>
        </p:nvSpPr>
        <p:spPr>
          <a:xfrm xmlns:a="http://schemas.openxmlformats.org/drawingml/2006/main">
            <a:off x="647700" y="5981700"/>
            <a:ext cx="10858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90" b="1">
                <a:solidFill>
                  <a:srgbClr val="16211F"/>
                </a:solidFill>
                <a:latin typeface="Aptos"/>
                <a:ea typeface="Aptos"/>
                <a:cs typeface="Aptos"/>
              </a:defRPr>
            </a:pPr>
            <a:r>
              <a:rPr sz="990" b="1">
                <a:solidFill>
                  <a:srgbClr val="16211F"/>
                </a:solidFill>
                <a:latin typeface="Aptos"/>
                <a:ea typeface="Aptos"/>
                <a:cs typeface="Aptos"/>
              </a:rPr>
              <a:t>Interpretation: descriptor prompts need variant-specific field marks. Shared base descriptors are not enough for age, sex, morph, and seasonal labels.</a:t>
            </a:r>
          </a:p>
        </p:txBody>
      </p:sp>
      <p:sp>
        <p:nvSpPr>
          <p:cNvPr id="14" name="">
            <a:extLst xmlns:a="http://schemas.openxmlformats.org/drawingml/2006/main">
              <a:ext uri="{FF2B5EF4-FFF2-40B4-BE49-F238E27FC236}">
                <a16:creationId xmlns:a16="http://schemas.microsoft.com/office/drawing/2014/main" id="{E21A3DC9-6F66-4386-8391-91C6912BFE97}"/>
              </a:ext>
            </a:extLst>
          </p:cNvPr>
          <p:cNvSpPr>
            <a:spLocks xmlns:a="http://schemas.openxmlformats.org/drawingml/2006/main" noGrp="1"/>
          </p:cNvSpPr>
          <p:nvPr/>
        </p:nvSpPr>
        <p:spPr>
          <a:xfrm xmlns:a="http://schemas.openxmlformats.org/drawingml/2006/main">
            <a:off x="514350" y="6534150"/>
            <a:ext cx="10477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78817B"/>
                </a:solidFill>
                <a:latin typeface="Aptos"/>
                <a:ea typeface="Aptos"/>
                <a:cs typeface="Aptos"/>
              </a:defRPr>
            </a:pPr>
            <a:r>
              <a:rPr sz="713" b="0">
                <a:solidFill>
                  <a:srgbClr val="78817B"/>
                </a:solidFill>
                <a:latin typeface="Aptos"/>
                <a:ea typeface="Aptos"/>
                <a:cs typeface="Aptos"/>
              </a:rPr>
              <a:t>Sources: clip_vit_b32_generic_cached_test_predictions.csv; analyze_predictions.py; visualize_prediction_errors.py.</a:t>
            </a:r>
          </a:p>
        </p:txBody>
      </p:sp>
    </p:spTree>
    <p:extLst>
      <p:ext uri="{BB962C8B-B14F-4D97-AF65-F5344CB8AC3E}">
        <p14:creationId xmlns:p14="http://schemas.microsoft.com/office/powerpoint/2010/main" val="2114262939"/>
      </p:ext>
    </p:extLst>
  </p:cSld>
</p:sld>
</file>

<file path=ppt/slides/slide4.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F362784-C054-4C78-B019-CE9F583598D6}"/>
              </a:ext>
            </a:extLst>
          </p:cNvPr>
          <p:cNvSpPr>
            <a:spLocks xmlns:a="http://schemas.openxmlformats.org/drawingml/2006/main" noGrp="1"/>
          </p:cNvSpPr>
          <p:nvPr/>
        </p:nvSpPr>
        <p:spPr>
          <a:xfrm xmlns:a="http://schemas.openxmlformats.org/drawingml/2006/main">
            <a:off x="514350" y="304800"/>
            <a:ext cx="5334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E5558"/>
                </a:solidFill>
                <a:latin typeface="Aptos"/>
                <a:ea typeface="Aptos"/>
                <a:cs typeface="Aptos"/>
              </a:defRPr>
            </a:pPr>
            <a:r>
              <a:rPr sz="900" b="1">
                <a:solidFill>
                  <a:srgbClr val="0E5558"/>
                </a:solidFill>
                <a:latin typeface="Aptos"/>
                <a:ea typeface="Aptos"/>
                <a:cs typeface="Aptos"/>
              </a:rPr>
              <a:t>LIMITATIONS AND NEXT STEPS</a:t>
            </a:r>
          </a:p>
        </p:txBody>
      </p:sp>
      <p:sp>
        <p:nvSpPr>
          <p:cNvPr id="2" name="">
            <a:extLst xmlns:a="http://schemas.openxmlformats.org/drawingml/2006/main">
              <a:ext uri="{FF2B5EF4-FFF2-40B4-BE49-F238E27FC236}">
                <a16:creationId xmlns:a16="http://schemas.microsoft.com/office/drawing/2014/main" id="{8E4B8ADD-E761-4216-BA00-E1BC538560B7}"/>
              </a:ext>
            </a:extLst>
          </p:cNvPr>
          <p:cNvSpPr>
            <a:spLocks xmlns:a="http://schemas.openxmlformats.org/drawingml/2006/main" noGrp="1"/>
          </p:cNvSpPr>
          <p:nvPr/>
        </p:nvSpPr>
        <p:spPr>
          <a:xfrm xmlns:a="http://schemas.openxmlformats.org/drawingml/2006/main">
            <a:off x="514350" y="552450"/>
            <a:ext cx="94297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6211F"/>
                </a:solidFill>
                <a:latin typeface="Aptos Display"/>
                <a:ea typeface="Aptos Display"/>
                <a:cs typeface="Aptos Display"/>
              </a:defRPr>
            </a:pPr>
            <a:r>
              <a:rPr sz="2175" b="1">
                <a:solidFill>
                  <a:srgbClr val="16211F"/>
                </a:solidFill>
                <a:latin typeface="Aptos Display"/>
                <a:ea typeface="Aptos Display"/>
                <a:cs typeface="Aptos Display"/>
              </a:rPr>
              <a:t>Move from zero-shot baselines to cleaned descriptors, cached adapters, and fusion</a:t>
            </a:r>
          </a:p>
        </p:txBody>
      </p:sp>
      <p:sp>
        <p:nvSpPr>
          <p:cNvPr id="3" name="">
            <a:extLst xmlns:a="http://schemas.openxmlformats.org/drawingml/2006/main">
              <a:ext uri="{FF2B5EF4-FFF2-40B4-BE49-F238E27FC236}">
                <a16:creationId xmlns:a16="http://schemas.microsoft.com/office/drawing/2014/main" id="{D436728C-A9F0-4E1C-A27E-97A5414FC1D7}"/>
              </a:ext>
            </a:extLst>
          </p:cNvPr>
          <p:cNvSpPr>
            <a:spLocks xmlns:a="http://schemas.openxmlformats.org/drawingml/2006/main" noGrp="1"/>
          </p:cNvSpPr>
          <p:nvPr/>
        </p:nvSpPr>
        <p:spPr>
          <a:xfrm xmlns:a="http://schemas.openxmlformats.org/drawingml/2006/main">
            <a:off x="533400" y="1257300"/>
            <a:ext cx="90487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0">
                <a:solidFill>
                  <a:srgbClr val="5D6661"/>
                </a:solidFill>
                <a:latin typeface="Aptos"/>
                <a:ea typeface="Aptos"/>
                <a:cs typeface="Aptos"/>
              </a:defRPr>
            </a:pPr>
            <a:r>
              <a:rPr sz="1163" b="0">
                <a:solidFill>
                  <a:srgbClr val="5D6661"/>
                </a:solidFill>
                <a:latin typeface="Aptos"/>
                <a:ea typeface="Aptos"/>
                <a:cs typeface="Aptos"/>
              </a:rPr>
              <a:t>The milestone result is a working evaluation path plus evidence that prompt quality and variant specificity matter.</a:t>
            </a:r>
          </a:p>
        </p:txBody>
      </p:sp>
      <p:sp>
        <p:nvSpPr>
          <p:cNvPr id="4" name="">
            <a:extLst xmlns:a="http://schemas.openxmlformats.org/drawingml/2006/main">
              <a:ext uri="{FF2B5EF4-FFF2-40B4-BE49-F238E27FC236}">
                <a16:creationId xmlns:a16="http://schemas.microsoft.com/office/drawing/2014/main" id="{F8E7308B-B25E-4F34-8950-8FDEBAA63156}"/>
              </a:ext>
            </a:extLst>
          </p:cNvPr>
          <p:cNvSpPr>
            <a:spLocks xmlns:a="http://schemas.openxmlformats.org/drawingml/2006/main" noGrp="1"/>
          </p:cNvSpPr>
          <p:nvPr/>
        </p:nvSpPr>
        <p:spPr>
          <a:xfrm xmlns:a="http://schemas.openxmlformats.org/drawingml/2006/main">
            <a:off x="514350" y="1638300"/>
            <a:ext cx="5334000" cy="3295650"/>
          </a:xfrm>
          <a:prstGeom xmlns:a="http://schemas.openxmlformats.org/drawingml/2006/main" prst="rect">
            <a:avLst/>
          </a:prstGeom>
          <a:solidFill xmlns:a="http://schemas.openxmlformats.org/drawingml/2006/main">
            <a:srgbClr val="FFFFFF"/>
          </a:solidFill>
          <a:ln xmlns:a="http://schemas.openxmlformats.org/drawingml/2006/main" w="9525">
            <a:solidFill>
              <a:srgbClr val="E0E4DC"/>
            </a:solidFill>
            <a:prstDash val="solid"/>
          </a:ln>
        </p:spPr>
      </p:sp>
      <p:sp>
        <p:nvSpPr>
          <p:cNvPr id="5" name="">
            <a:extLst xmlns:a="http://schemas.openxmlformats.org/drawingml/2006/main">
              <a:ext uri="{FF2B5EF4-FFF2-40B4-BE49-F238E27FC236}">
                <a16:creationId xmlns:a16="http://schemas.microsoft.com/office/drawing/2014/main" id="{8F43971C-3B58-4E9C-B3CB-DB1C17EBDE2C}"/>
              </a:ext>
            </a:extLst>
          </p:cNvPr>
          <p:cNvSpPr>
            <a:spLocks xmlns:a="http://schemas.openxmlformats.org/drawingml/2006/main" noGrp="1"/>
          </p:cNvSpPr>
          <p:nvPr/>
        </p:nvSpPr>
        <p:spPr>
          <a:xfrm xmlns:a="http://schemas.openxmlformats.org/drawingml/2006/main">
            <a:off x="781050" y="1866900"/>
            <a:ext cx="2857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B44E62"/>
                </a:solidFill>
                <a:latin typeface="Aptos"/>
                <a:ea typeface="Aptos"/>
                <a:cs typeface="Aptos"/>
              </a:defRPr>
            </a:pPr>
            <a:r>
              <a:rPr sz="1275" b="1">
                <a:solidFill>
                  <a:srgbClr val="B44E62"/>
                </a:solidFill>
                <a:latin typeface="Aptos"/>
                <a:ea typeface="Aptos"/>
                <a:cs typeface="Aptos"/>
              </a:rPr>
              <a:t>Current limitations</a:t>
            </a:r>
          </a:p>
        </p:txBody>
      </p:sp>
      <p:sp>
        <p:nvSpPr>
          <p:cNvPr id="6" name="">
            <a:extLst xmlns:a="http://schemas.openxmlformats.org/drawingml/2006/main">
              <a:ext uri="{FF2B5EF4-FFF2-40B4-BE49-F238E27FC236}">
                <a16:creationId xmlns:a16="http://schemas.microsoft.com/office/drawing/2014/main" id="{CDD13315-C4FC-4F81-A3A1-DB00DCF66EF8}"/>
              </a:ext>
            </a:extLst>
          </p:cNvPr>
          <p:cNvSpPr>
            <a:spLocks xmlns:a="http://schemas.openxmlformats.org/drawingml/2006/main" noGrp="1"/>
          </p:cNvSpPr>
          <p:nvPr/>
        </p:nvSpPr>
        <p:spPr>
          <a:xfrm xmlns:a="http://schemas.openxmlformats.org/drawingml/2006/main">
            <a:off x="781050" y="2266950"/>
            <a:ext cx="361950" cy="361950"/>
          </a:xfrm>
          <a:prstGeom xmlns:a="http://schemas.openxmlformats.org/drawingml/2006/main" prst="rect">
            <a:avLst/>
          </a:prstGeom>
          <a:solidFill xmlns:a="http://schemas.openxmlformats.org/drawingml/2006/main">
            <a:srgbClr val="F2F6F3"/>
          </a:solidFill>
          <a:ln xmlns:a="http://schemas.openxmlformats.org/drawingml/2006/main" w="9525">
            <a:solidFill>
              <a:srgbClr val="D4DED7"/>
            </a:solidFill>
            <a:prstDash val="solid"/>
          </a:ln>
        </p:spPr>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d721eb7fc494977">
            <a:extLst>
              <a:ext uri="{96DAC541-7B7A-43D3-8B79-37D633B846F1}">
                <asvg:svgBlip xmlns:asvg="http://schemas.microsoft.com/office/drawing/2016/SVG/main" r:embed="R2cdaf18038ef4339"/>
              </a:ext>
            </a:extLst>
          </a:blip>
          <a:stretch xmlns:a="http://schemas.openxmlformats.org/drawingml/2006/main"/>
        </p:blipFill>
        <p:spPr>
          <a:xfrm xmlns:a="http://schemas.openxmlformats.org/drawingml/2006/main">
            <a:off x="866775" y="2352675"/>
            <a:ext cx="190500" cy="1905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00CEDF9-B3D6-471C-ABE8-8AEB5C8A7E52}"/>
              </a:ext>
            </a:extLst>
          </p:cNvPr>
          <p:cNvSpPr>
            <a:spLocks xmlns:a="http://schemas.openxmlformats.org/drawingml/2006/main" noGrp="1"/>
          </p:cNvSpPr>
          <p:nvPr/>
        </p:nvSpPr>
        <p:spPr>
          <a:xfrm xmlns:a="http://schemas.openxmlformats.org/drawingml/2006/main">
            <a:off x="1257300" y="2257425"/>
            <a:ext cx="4095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10" b="1">
                <a:solidFill>
                  <a:srgbClr val="16211F"/>
                </a:solidFill>
                <a:latin typeface="Aptos"/>
                <a:ea typeface="Aptos"/>
                <a:cs typeface="Aptos"/>
              </a:defRPr>
            </a:pPr>
            <a:r>
              <a:rPr sz="1110" b="1">
                <a:solidFill>
                  <a:srgbClr val="16211F"/>
                </a:solidFill>
                <a:latin typeface="Aptos"/>
                <a:ea typeface="Aptos"/>
                <a:cs typeface="Aptos"/>
              </a:rPr>
              <a:t>Descriptor normalization is still imperfect</a:t>
            </a:r>
          </a:p>
        </p:txBody>
      </p:sp>
      <p:sp>
        <p:nvSpPr>
          <p:cNvPr id="9" name="">
            <a:extLst xmlns:a="http://schemas.openxmlformats.org/drawingml/2006/main">
              <a:ext uri="{FF2B5EF4-FFF2-40B4-BE49-F238E27FC236}">
                <a16:creationId xmlns:a16="http://schemas.microsoft.com/office/drawing/2014/main" id="{3496C4E0-E946-4E82-8587-2ED82AFB0DAD}"/>
              </a:ext>
            </a:extLst>
          </p:cNvPr>
          <p:cNvSpPr>
            <a:spLocks xmlns:a="http://schemas.openxmlformats.org/drawingml/2006/main" noGrp="1"/>
          </p:cNvSpPr>
          <p:nvPr/>
        </p:nvSpPr>
        <p:spPr>
          <a:xfrm xmlns:a="http://schemas.openxmlformats.org/drawingml/2006/main">
            <a:off x="1257300" y="2476500"/>
            <a:ext cx="4095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85" b="0">
                <a:solidFill>
                  <a:srgbClr val="5D6661"/>
                </a:solidFill>
                <a:latin typeface="Aptos"/>
                <a:ea typeface="Aptos"/>
                <a:cs typeface="Aptos"/>
              </a:defRPr>
            </a:pPr>
            <a:r>
              <a:rPr sz="885" b="0">
                <a:solidFill>
                  <a:srgbClr val="5D6661"/>
                </a:solidFill>
                <a:latin typeface="Aptos"/>
                <a:ea typeface="Aptos"/>
                <a:cs typeface="Aptos"/>
              </a:rPr>
              <a:t>Many rows include long or redundant field marks, and some descriptors mix nonvisual or broad natural-language phrasing.</a:t>
            </a:r>
          </a:p>
        </p:txBody>
      </p:sp>
      <p:sp>
        <p:nvSpPr>
          <p:cNvPr id="10" name="">
            <a:extLst xmlns:a="http://schemas.openxmlformats.org/drawingml/2006/main">
              <a:ext uri="{FF2B5EF4-FFF2-40B4-BE49-F238E27FC236}">
                <a16:creationId xmlns:a16="http://schemas.microsoft.com/office/drawing/2014/main" id="{8FB32308-83B4-4F50-9C63-703BE71C84D1}"/>
              </a:ext>
            </a:extLst>
          </p:cNvPr>
          <p:cNvSpPr>
            <a:spLocks xmlns:a="http://schemas.openxmlformats.org/drawingml/2006/main" noGrp="1"/>
          </p:cNvSpPr>
          <p:nvPr/>
        </p:nvSpPr>
        <p:spPr>
          <a:xfrm xmlns:a="http://schemas.openxmlformats.org/drawingml/2006/main">
            <a:off x="781050" y="3028950"/>
            <a:ext cx="361950" cy="361950"/>
          </a:xfrm>
          <a:prstGeom xmlns:a="http://schemas.openxmlformats.org/drawingml/2006/main" prst="rect">
            <a:avLst/>
          </a:prstGeom>
          <a:solidFill xmlns:a="http://schemas.openxmlformats.org/drawingml/2006/main">
            <a:srgbClr val="F2F6F3"/>
          </a:solidFill>
          <a:ln xmlns:a="http://schemas.openxmlformats.org/drawingml/2006/main" w="9525">
            <a:solidFill>
              <a:srgbClr val="D4DED7"/>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95d8d5c18714def">
            <a:extLst>
              <a:ext uri="{96DAC541-7B7A-43D3-8B79-37D633B846F1}">
                <asvg:svgBlip xmlns:asvg="http://schemas.microsoft.com/office/drawing/2016/SVG/main" r:embed="R1bebc7225af84ac4"/>
              </a:ext>
            </a:extLst>
          </a:blip>
          <a:stretch xmlns:a="http://schemas.openxmlformats.org/drawingml/2006/main"/>
        </p:blipFill>
        <p:spPr>
          <a:xfrm xmlns:a="http://schemas.openxmlformats.org/drawingml/2006/main">
            <a:off x="866775" y="3114675"/>
            <a:ext cx="190500" cy="1905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16BC9568-52BA-4EF5-8EA9-8098B29108CB}"/>
              </a:ext>
            </a:extLst>
          </p:cNvPr>
          <p:cNvSpPr>
            <a:spLocks xmlns:a="http://schemas.openxmlformats.org/drawingml/2006/main" noGrp="1"/>
          </p:cNvSpPr>
          <p:nvPr/>
        </p:nvSpPr>
        <p:spPr>
          <a:xfrm xmlns:a="http://schemas.openxmlformats.org/drawingml/2006/main">
            <a:off x="1257300" y="3019425"/>
            <a:ext cx="4095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10" b="1">
                <a:solidFill>
                  <a:srgbClr val="16211F"/>
                </a:solidFill>
                <a:latin typeface="Aptos"/>
                <a:ea typeface="Aptos"/>
                <a:cs typeface="Aptos"/>
              </a:defRPr>
            </a:pPr>
            <a:r>
              <a:rPr sz="1110" b="1">
                <a:solidFill>
                  <a:srgbClr val="16211F"/>
                </a:solidFill>
                <a:latin typeface="Aptos"/>
                <a:ea typeface="Aptos"/>
                <a:cs typeface="Aptos"/>
              </a:rPr>
              <a:t>Variant labels often share base descriptors</a:t>
            </a:r>
          </a:p>
        </p:txBody>
      </p:sp>
      <p:sp>
        <p:nvSpPr>
          <p:cNvPr id="13" name="">
            <a:extLst xmlns:a="http://schemas.openxmlformats.org/drawingml/2006/main">
              <a:ext uri="{FF2B5EF4-FFF2-40B4-BE49-F238E27FC236}">
                <a16:creationId xmlns:a16="http://schemas.microsoft.com/office/drawing/2014/main" id="{8C69B686-7EC7-4A53-92A5-04ADBFF3423D}"/>
              </a:ext>
            </a:extLst>
          </p:cNvPr>
          <p:cNvSpPr>
            <a:spLocks xmlns:a="http://schemas.openxmlformats.org/drawingml/2006/main" noGrp="1"/>
          </p:cNvSpPr>
          <p:nvPr/>
        </p:nvSpPr>
        <p:spPr>
          <a:xfrm xmlns:a="http://schemas.openxmlformats.org/drawingml/2006/main">
            <a:off x="1257300" y="3238500"/>
            <a:ext cx="4095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85" b="0">
                <a:solidFill>
                  <a:srgbClr val="5D6661"/>
                </a:solidFill>
                <a:latin typeface="Aptos"/>
                <a:ea typeface="Aptos"/>
                <a:cs typeface="Aptos"/>
              </a:defRPr>
            </a:pPr>
            <a:r>
              <a:rPr sz="885" b="0">
                <a:solidFill>
                  <a:srgbClr val="5D6661"/>
                </a:solidFill>
                <a:latin typeface="Aptos"/>
                <a:ea typeface="Aptos"/>
                <a:cs typeface="Aptos"/>
              </a:rPr>
              <a:t>279 official classes inherit shared descriptors across sex, age, morph, breeding, or nonbreeding variants.</a:t>
            </a:r>
          </a:p>
        </p:txBody>
      </p:sp>
      <p:sp>
        <p:nvSpPr>
          <p:cNvPr id="14" name="">
            <a:extLst xmlns:a="http://schemas.openxmlformats.org/drawingml/2006/main">
              <a:ext uri="{FF2B5EF4-FFF2-40B4-BE49-F238E27FC236}">
                <a16:creationId xmlns:a16="http://schemas.microsoft.com/office/drawing/2014/main" id="{EFB348AF-8071-4915-851A-9B348853575F}"/>
              </a:ext>
            </a:extLst>
          </p:cNvPr>
          <p:cNvSpPr>
            <a:spLocks xmlns:a="http://schemas.openxmlformats.org/drawingml/2006/main" noGrp="1"/>
          </p:cNvSpPr>
          <p:nvPr/>
        </p:nvSpPr>
        <p:spPr>
          <a:xfrm xmlns:a="http://schemas.openxmlformats.org/drawingml/2006/main">
            <a:off x="781050" y="3790950"/>
            <a:ext cx="361950" cy="361950"/>
          </a:xfrm>
          <a:prstGeom xmlns:a="http://schemas.openxmlformats.org/drawingml/2006/main" prst="rect">
            <a:avLst/>
          </a:prstGeom>
          <a:solidFill xmlns:a="http://schemas.openxmlformats.org/drawingml/2006/main">
            <a:srgbClr val="F2F6F3"/>
          </a:solidFill>
          <a:ln xmlns:a="http://schemas.openxmlformats.org/drawingml/2006/main" w="9525">
            <a:solidFill>
              <a:srgbClr val="D4DED7"/>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1d0788cd0894a22">
            <a:extLst>
              <a:ext uri="{96DAC541-7B7A-43D3-8B79-37D633B846F1}">
                <asvg:svgBlip xmlns:asvg="http://schemas.microsoft.com/office/drawing/2016/SVG/main" r:embed="R42d4dc977d2d485e"/>
              </a:ext>
            </a:extLst>
          </a:blip>
          <a:stretch xmlns:a="http://schemas.openxmlformats.org/drawingml/2006/main"/>
        </p:blipFill>
        <p:spPr>
          <a:xfrm xmlns:a="http://schemas.openxmlformats.org/drawingml/2006/main">
            <a:off x="866775" y="3876675"/>
            <a:ext cx="190500" cy="1905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F07F8199-8B0A-4B67-9502-BA398D46B05A}"/>
              </a:ext>
            </a:extLst>
          </p:cNvPr>
          <p:cNvSpPr>
            <a:spLocks xmlns:a="http://schemas.openxmlformats.org/drawingml/2006/main" noGrp="1"/>
          </p:cNvSpPr>
          <p:nvPr/>
        </p:nvSpPr>
        <p:spPr>
          <a:xfrm xmlns:a="http://schemas.openxmlformats.org/drawingml/2006/main">
            <a:off x="1257300" y="3781425"/>
            <a:ext cx="4095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10" b="1">
                <a:solidFill>
                  <a:srgbClr val="16211F"/>
                </a:solidFill>
                <a:latin typeface="Aptos"/>
                <a:ea typeface="Aptos"/>
                <a:cs typeface="Aptos"/>
              </a:defRPr>
            </a:pPr>
            <a:r>
              <a:rPr sz="1110" b="1">
                <a:solidFill>
                  <a:srgbClr val="16211F"/>
                </a:solidFill>
                <a:latin typeface="Aptos"/>
                <a:ea typeface="Aptos"/>
                <a:cs typeface="Aptos"/>
              </a:rPr>
              <a:t>No official adapter result yet</a:t>
            </a:r>
          </a:p>
        </p:txBody>
      </p:sp>
      <p:sp>
        <p:nvSpPr>
          <p:cNvPr id="17" name="">
            <a:extLst xmlns:a="http://schemas.openxmlformats.org/drawingml/2006/main">
              <a:ext uri="{FF2B5EF4-FFF2-40B4-BE49-F238E27FC236}">
                <a16:creationId xmlns:a16="http://schemas.microsoft.com/office/drawing/2014/main" id="{1A0CEC1B-683E-48A8-B60C-3F1AEB198934}"/>
              </a:ext>
            </a:extLst>
          </p:cNvPr>
          <p:cNvSpPr>
            <a:spLocks xmlns:a="http://schemas.openxmlformats.org/drawingml/2006/main" noGrp="1"/>
          </p:cNvSpPr>
          <p:nvPr/>
        </p:nvSpPr>
        <p:spPr>
          <a:xfrm xmlns:a="http://schemas.openxmlformats.org/drawingml/2006/main">
            <a:off x="1257300" y="4000500"/>
            <a:ext cx="4095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85" b="0">
                <a:solidFill>
                  <a:srgbClr val="5D6661"/>
                </a:solidFill>
                <a:latin typeface="Aptos"/>
                <a:ea typeface="Aptos"/>
                <a:cs typeface="Aptos"/>
              </a:defRPr>
            </a:pPr>
            <a:r>
              <a:rPr sz="885" b="0">
                <a:solidFill>
                  <a:srgbClr val="5D6661"/>
                </a:solidFill>
                <a:latin typeface="Aptos"/>
                <a:ea typeface="Aptos"/>
                <a:cs typeface="Aptos"/>
              </a:rPr>
              <a:t>Zero-shot CLIP is complete; SigLIP2 HF scoring appears non-informative and needs debugging before adapter or LoRA work.</a:t>
            </a:r>
          </a:p>
        </p:txBody>
      </p:sp>
      <p:sp>
        <p:nvSpPr>
          <p:cNvPr id="18" name="">
            <a:extLst xmlns:a="http://schemas.openxmlformats.org/drawingml/2006/main">
              <a:ext uri="{FF2B5EF4-FFF2-40B4-BE49-F238E27FC236}">
                <a16:creationId xmlns:a16="http://schemas.microsoft.com/office/drawing/2014/main" id="{8493AC17-26A3-4206-88C6-4E502FAB5517}"/>
              </a:ext>
            </a:extLst>
          </p:cNvPr>
          <p:cNvSpPr>
            <a:spLocks xmlns:a="http://schemas.openxmlformats.org/drawingml/2006/main" noGrp="1"/>
          </p:cNvSpPr>
          <p:nvPr/>
        </p:nvSpPr>
        <p:spPr>
          <a:xfrm xmlns:a="http://schemas.openxmlformats.org/drawingml/2006/main">
            <a:off x="6343650" y="1638300"/>
            <a:ext cx="5295900" cy="3295650"/>
          </a:xfrm>
          <a:prstGeom xmlns:a="http://schemas.openxmlformats.org/drawingml/2006/main" prst="rect">
            <a:avLst/>
          </a:prstGeom>
          <a:solidFill xmlns:a="http://schemas.openxmlformats.org/drawingml/2006/main">
            <a:srgbClr val="FFFFFF"/>
          </a:solidFill>
          <a:ln xmlns:a="http://schemas.openxmlformats.org/drawingml/2006/main" w="9525">
            <a:solidFill>
              <a:srgbClr val="E0E4DC"/>
            </a:solidFill>
            <a:prstDash val="solid"/>
          </a:ln>
        </p:spPr>
      </p:sp>
      <p:sp>
        <p:nvSpPr>
          <p:cNvPr id="19" name="">
            <a:extLst xmlns:a="http://schemas.openxmlformats.org/drawingml/2006/main">
              <a:ext uri="{FF2B5EF4-FFF2-40B4-BE49-F238E27FC236}">
                <a16:creationId xmlns:a16="http://schemas.microsoft.com/office/drawing/2014/main" id="{689366FC-4815-4877-B92D-5A9F0863446A}"/>
              </a:ext>
            </a:extLst>
          </p:cNvPr>
          <p:cNvSpPr>
            <a:spLocks xmlns:a="http://schemas.openxmlformats.org/drawingml/2006/main" noGrp="1"/>
          </p:cNvSpPr>
          <p:nvPr/>
        </p:nvSpPr>
        <p:spPr>
          <a:xfrm xmlns:a="http://schemas.openxmlformats.org/drawingml/2006/main">
            <a:off x="6610350" y="1866900"/>
            <a:ext cx="3143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0E5558"/>
                </a:solidFill>
                <a:latin typeface="Aptos"/>
                <a:ea typeface="Aptos"/>
                <a:cs typeface="Aptos"/>
              </a:defRPr>
            </a:pPr>
            <a:r>
              <a:rPr sz="1275" b="1">
                <a:solidFill>
                  <a:srgbClr val="0E5558"/>
                </a:solidFill>
                <a:latin typeface="Aptos"/>
                <a:ea typeface="Aptos"/>
                <a:cs typeface="Aptos"/>
              </a:rPr>
              <a:t>Next engineering sequence</a:t>
            </a:r>
          </a:p>
        </p:txBody>
      </p:sp>
      <p:sp>
        <p:nvSpPr>
          <p:cNvPr id="20" name="">
            <a:extLst xmlns:a="http://schemas.openxmlformats.org/drawingml/2006/main">
              <a:ext uri="{FF2B5EF4-FFF2-40B4-BE49-F238E27FC236}">
                <a16:creationId xmlns:a16="http://schemas.microsoft.com/office/drawing/2014/main" id="{AE2430E1-3868-4A2B-A8B8-A65F42C62DD2}"/>
              </a:ext>
            </a:extLst>
          </p:cNvPr>
          <p:cNvSpPr>
            <a:spLocks xmlns:a="http://schemas.openxmlformats.org/drawingml/2006/main" noGrp="1"/>
          </p:cNvSpPr>
          <p:nvPr/>
        </p:nvSpPr>
        <p:spPr>
          <a:xfrm xmlns:a="http://schemas.openxmlformats.org/drawingml/2006/main">
            <a:off x="6610350" y="2266950"/>
            <a:ext cx="361950" cy="361950"/>
          </a:xfrm>
          <a:prstGeom xmlns:a="http://schemas.openxmlformats.org/drawingml/2006/main" prst="rect">
            <a:avLst/>
          </a:prstGeom>
          <a:solidFill xmlns:a="http://schemas.openxmlformats.org/drawingml/2006/main">
            <a:srgbClr val="F2F6F3"/>
          </a:solidFill>
          <a:ln xmlns:a="http://schemas.openxmlformats.org/drawingml/2006/main" w="9525">
            <a:solidFill>
              <a:srgbClr val="D4DED7"/>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bb3aed509eac42ee">
            <a:extLst>
              <a:ext uri="{96DAC541-7B7A-43D3-8B79-37D633B846F1}">
                <asvg:svgBlip xmlns:asvg="http://schemas.microsoft.com/office/drawing/2016/SVG/main" r:embed="R86d3e18cc89b4737"/>
              </a:ext>
            </a:extLst>
          </a:blip>
          <a:stretch xmlns:a="http://schemas.openxmlformats.org/drawingml/2006/main"/>
        </p:blipFill>
        <p:spPr>
          <a:xfrm xmlns:a="http://schemas.openxmlformats.org/drawingml/2006/main">
            <a:off x="6696075" y="2352675"/>
            <a:ext cx="190500" cy="19050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87ADE620-DAF9-44E0-B976-0506CB48FE10}"/>
              </a:ext>
            </a:extLst>
          </p:cNvPr>
          <p:cNvSpPr>
            <a:spLocks xmlns:a="http://schemas.openxmlformats.org/drawingml/2006/main" noGrp="1"/>
          </p:cNvSpPr>
          <p:nvPr/>
        </p:nvSpPr>
        <p:spPr>
          <a:xfrm xmlns:a="http://schemas.openxmlformats.org/drawingml/2006/main">
            <a:off x="7086600" y="2257425"/>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10" b="1">
                <a:solidFill>
                  <a:srgbClr val="16211F"/>
                </a:solidFill>
                <a:latin typeface="Aptos"/>
                <a:ea typeface="Aptos"/>
                <a:cs typeface="Aptos"/>
              </a:defRPr>
            </a:pPr>
            <a:r>
              <a:rPr sz="1110" b="1">
                <a:solidFill>
                  <a:srgbClr val="16211F"/>
                </a:solidFill>
                <a:latin typeface="Aptos"/>
                <a:ea typeface="Aptos"/>
                <a:cs typeface="Aptos"/>
              </a:rPr>
              <a:t>Clean descriptors</a:t>
            </a:r>
          </a:p>
        </p:txBody>
      </p:sp>
      <p:sp>
        <p:nvSpPr>
          <p:cNvPr id="23" name="">
            <a:extLst xmlns:a="http://schemas.openxmlformats.org/drawingml/2006/main">
              <a:ext uri="{FF2B5EF4-FFF2-40B4-BE49-F238E27FC236}">
                <a16:creationId xmlns:a16="http://schemas.microsoft.com/office/drawing/2014/main" id="{836253BE-2406-401B-AB55-DE3DF43E3303}"/>
              </a:ext>
            </a:extLst>
          </p:cNvPr>
          <p:cNvSpPr>
            <a:spLocks xmlns:a="http://schemas.openxmlformats.org/drawingml/2006/main" noGrp="1"/>
          </p:cNvSpPr>
          <p:nvPr/>
        </p:nvSpPr>
        <p:spPr>
          <a:xfrm xmlns:a="http://schemas.openxmlformats.org/drawingml/2006/main">
            <a:off x="7086600" y="2476500"/>
            <a:ext cx="4000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85" b="0">
                <a:solidFill>
                  <a:srgbClr val="5D6661"/>
                </a:solidFill>
                <a:latin typeface="Aptos"/>
                <a:ea typeface="Aptos"/>
                <a:cs typeface="Aptos"/>
              </a:defRPr>
            </a:pPr>
            <a:r>
              <a:rPr sz="885" b="0">
                <a:solidFill>
                  <a:srgbClr val="5D6661"/>
                </a:solidFill>
                <a:latin typeface="Aptos"/>
                <a:ea typeface="Aptos"/>
                <a:cs typeface="Aptos"/>
              </a:rPr>
              <a:t>Shorten to visible field marks; add targeted variant terms for adult male, female/juvenile, immature, breeding, and nonbreeding classes.</a:t>
            </a:r>
          </a:p>
        </p:txBody>
      </p:sp>
      <p:sp>
        <p:nvSpPr>
          <p:cNvPr id="24" name="">
            <a:extLst xmlns:a="http://schemas.openxmlformats.org/drawingml/2006/main">
              <a:ext uri="{FF2B5EF4-FFF2-40B4-BE49-F238E27FC236}">
                <a16:creationId xmlns:a16="http://schemas.microsoft.com/office/drawing/2014/main" id="{02174DD6-65FD-4EFF-8DC5-763C04DBBCBB}"/>
              </a:ext>
            </a:extLst>
          </p:cNvPr>
          <p:cNvSpPr>
            <a:spLocks xmlns:a="http://schemas.openxmlformats.org/drawingml/2006/main" noGrp="1"/>
          </p:cNvSpPr>
          <p:nvPr/>
        </p:nvSpPr>
        <p:spPr>
          <a:xfrm xmlns:a="http://schemas.openxmlformats.org/drawingml/2006/main">
            <a:off x="6610350" y="3028950"/>
            <a:ext cx="361950" cy="361950"/>
          </a:xfrm>
          <a:prstGeom xmlns:a="http://schemas.openxmlformats.org/drawingml/2006/main" prst="rect">
            <a:avLst/>
          </a:prstGeom>
          <a:solidFill xmlns:a="http://schemas.openxmlformats.org/drawingml/2006/main">
            <a:srgbClr val="F2F6F3"/>
          </a:solidFill>
          <a:ln xmlns:a="http://schemas.openxmlformats.org/drawingml/2006/main" w="9525">
            <a:solidFill>
              <a:srgbClr val="D4DED7"/>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d97e81a4c27e4b6f">
            <a:extLst>
              <a:ext uri="{96DAC541-7B7A-43D3-8B79-37D633B846F1}">
                <asvg:svgBlip xmlns:asvg="http://schemas.microsoft.com/office/drawing/2016/SVG/main" r:embed="R35711ec3d51d4d01"/>
              </a:ext>
            </a:extLst>
          </a:blip>
          <a:stretch xmlns:a="http://schemas.openxmlformats.org/drawingml/2006/main"/>
        </p:blipFill>
        <p:spPr>
          <a:xfrm xmlns:a="http://schemas.openxmlformats.org/drawingml/2006/main">
            <a:off x="6696075" y="3114675"/>
            <a:ext cx="190500" cy="190500"/>
          </a:xfrm>
          <a:prstGeom xmlns:a="http://schemas.openxmlformats.org/drawingml/2006/main" prst="rect">
            <a:avLst/>
          </a:prstGeom>
        </p:spPr>
      </p:pic>
      <p:sp>
        <p:nvSpPr>
          <p:cNvPr id="26" name="">
            <a:extLst xmlns:a="http://schemas.openxmlformats.org/drawingml/2006/main">
              <a:ext uri="{FF2B5EF4-FFF2-40B4-BE49-F238E27FC236}">
                <a16:creationId xmlns:a16="http://schemas.microsoft.com/office/drawing/2014/main" id="{046F2C75-45A2-4BB1-99C8-05462ED783A8}"/>
              </a:ext>
            </a:extLst>
          </p:cNvPr>
          <p:cNvSpPr>
            <a:spLocks xmlns:a="http://schemas.openxmlformats.org/drawingml/2006/main" noGrp="1"/>
          </p:cNvSpPr>
          <p:nvPr/>
        </p:nvSpPr>
        <p:spPr>
          <a:xfrm xmlns:a="http://schemas.openxmlformats.org/drawingml/2006/main">
            <a:off x="7086600" y="3019425"/>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10" b="1">
                <a:solidFill>
                  <a:srgbClr val="16211F"/>
                </a:solidFill>
                <a:latin typeface="Aptos"/>
                <a:ea typeface="Aptos"/>
                <a:cs typeface="Aptos"/>
              </a:defRPr>
            </a:pPr>
            <a:r>
              <a:rPr sz="1110" b="1">
                <a:solidFill>
                  <a:srgbClr val="16211F"/>
                </a:solidFill>
                <a:latin typeface="Aptos"/>
                <a:ea typeface="Aptos"/>
                <a:cs typeface="Aptos"/>
              </a:rPr>
              <a:t>Run prompt ablations</a:t>
            </a:r>
          </a:p>
        </p:txBody>
      </p:sp>
      <p:sp>
        <p:nvSpPr>
          <p:cNvPr id="27" name="">
            <a:extLst xmlns:a="http://schemas.openxmlformats.org/drawingml/2006/main">
              <a:ext uri="{FF2B5EF4-FFF2-40B4-BE49-F238E27FC236}">
                <a16:creationId xmlns:a16="http://schemas.microsoft.com/office/drawing/2014/main" id="{72AA2D94-153B-46C1-9FCD-34EBBB53705D}"/>
              </a:ext>
            </a:extLst>
          </p:cNvPr>
          <p:cNvSpPr>
            <a:spLocks xmlns:a="http://schemas.openxmlformats.org/drawingml/2006/main" noGrp="1"/>
          </p:cNvSpPr>
          <p:nvPr/>
        </p:nvSpPr>
        <p:spPr>
          <a:xfrm xmlns:a="http://schemas.openxmlformats.org/drawingml/2006/main">
            <a:off x="7086600" y="3238500"/>
            <a:ext cx="4000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85" b="0">
                <a:solidFill>
                  <a:srgbClr val="5D6661"/>
                </a:solidFill>
                <a:latin typeface="Aptos"/>
                <a:ea typeface="Aptos"/>
                <a:cs typeface="Aptos"/>
              </a:defRPr>
            </a:pPr>
            <a:r>
              <a:rPr sz="885" b="0">
                <a:solidFill>
                  <a:srgbClr val="5D6661"/>
                </a:solidFill>
                <a:latin typeface="Aptos"/>
                <a:ea typeface="Aptos"/>
                <a:cs typeface="Aptos"/>
              </a:rPr>
              <a:t>Compare class-only, descriptor-only, label+descriptor, variant-only, and manually cleaned descriptor prompt sets using cached image features.</a:t>
            </a:r>
          </a:p>
        </p:txBody>
      </p:sp>
      <p:sp>
        <p:nvSpPr>
          <p:cNvPr id="28" name="">
            <a:extLst xmlns:a="http://schemas.openxmlformats.org/drawingml/2006/main">
              <a:ext uri="{FF2B5EF4-FFF2-40B4-BE49-F238E27FC236}">
                <a16:creationId xmlns:a16="http://schemas.microsoft.com/office/drawing/2014/main" id="{C4AFC35B-2D58-4F0B-9E73-60DE37300DBE}"/>
              </a:ext>
            </a:extLst>
          </p:cNvPr>
          <p:cNvSpPr>
            <a:spLocks xmlns:a="http://schemas.openxmlformats.org/drawingml/2006/main" noGrp="1"/>
          </p:cNvSpPr>
          <p:nvPr/>
        </p:nvSpPr>
        <p:spPr>
          <a:xfrm xmlns:a="http://schemas.openxmlformats.org/drawingml/2006/main">
            <a:off x="6610350" y="3790950"/>
            <a:ext cx="361950" cy="361950"/>
          </a:xfrm>
          <a:prstGeom xmlns:a="http://schemas.openxmlformats.org/drawingml/2006/main" prst="rect">
            <a:avLst/>
          </a:prstGeom>
          <a:solidFill xmlns:a="http://schemas.openxmlformats.org/drawingml/2006/main">
            <a:srgbClr val="F2F6F3"/>
          </a:solidFill>
          <a:ln xmlns:a="http://schemas.openxmlformats.org/drawingml/2006/main" w="9525">
            <a:solidFill>
              <a:srgbClr val="D4DED7"/>
            </a:solidFill>
            <a:prstDash val="solid"/>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e3f03dccbf634cfe">
            <a:extLst>
              <a:ext uri="{96DAC541-7B7A-43D3-8B79-37D633B846F1}">
                <asvg:svgBlip xmlns:asvg="http://schemas.microsoft.com/office/drawing/2016/SVG/main" r:embed="R6d46176a7e094055"/>
              </a:ext>
            </a:extLst>
          </a:blip>
          <a:stretch xmlns:a="http://schemas.openxmlformats.org/drawingml/2006/main"/>
        </p:blipFill>
        <p:spPr>
          <a:xfrm xmlns:a="http://schemas.openxmlformats.org/drawingml/2006/main">
            <a:off x="6696075" y="3876675"/>
            <a:ext cx="190500" cy="190500"/>
          </a:xfrm>
          <a:prstGeom xmlns:a="http://schemas.openxmlformats.org/drawingml/2006/main" prst="rect">
            <a:avLst/>
          </a:prstGeom>
        </p:spPr>
      </p:pic>
      <p:sp>
        <p:nvSpPr>
          <p:cNvPr id="30" name="">
            <a:extLst xmlns:a="http://schemas.openxmlformats.org/drawingml/2006/main">
              <a:ext uri="{FF2B5EF4-FFF2-40B4-BE49-F238E27FC236}">
                <a16:creationId xmlns:a16="http://schemas.microsoft.com/office/drawing/2014/main" id="{4620419A-2BE9-4AD6-A274-D085380BF162}"/>
              </a:ext>
            </a:extLst>
          </p:cNvPr>
          <p:cNvSpPr>
            <a:spLocks xmlns:a="http://schemas.openxmlformats.org/drawingml/2006/main" noGrp="1"/>
          </p:cNvSpPr>
          <p:nvPr/>
        </p:nvSpPr>
        <p:spPr>
          <a:xfrm xmlns:a="http://schemas.openxmlformats.org/drawingml/2006/main">
            <a:off x="7086600" y="3781425"/>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10" b="1">
                <a:solidFill>
                  <a:srgbClr val="16211F"/>
                </a:solidFill>
                <a:latin typeface="Aptos"/>
                <a:ea typeface="Aptos"/>
                <a:cs typeface="Aptos"/>
              </a:defRPr>
            </a:pPr>
            <a:r>
              <a:rPr sz="1110" b="1">
                <a:solidFill>
                  <a:srgbClr val="16211F"/>
                </a:solidFill>
                <a:latin typeface="Aptos"/>
                <a:ea typeface="Aptos"/>
                <a:cs typeface="Aptos"/>
              </a:rPr>
              <a:t>Train cached adapter and fuse logits</a:t>
            </a:r>
          </a:p>
        </p:txBody>
      </p:sp>
      <p:sp>
        <p:nvSpPr>
          <p:cNvPr id="31" name="">
            <a:extLst xmlns:a="http://schemas.openxmlformats.org/drawingml/2006/main">
              <a:ext uri="{FF2B5EF4-FFF2-40B4-BE49-F238E27FC236}">
                <a16:creationId xmlns:a16="http://schemas.microsoft.com/office/drawing/2014/main" id="{CE5E5E3D-8C9C-46DB-B4F3-7B5D347796B9}"/>
              </a:ext>
            </a:extLst>
          </p:cNvPr>
          <p:cNvSpPr>
            <a:spLocks xmlns:a="http://schemas.openxmlformats.org/drawingml/2006/main" noGrp="1"/>
          </p:cNvSpPr>
          <p:nvPr/>
        </p:nvSpPr>
        <p:spPr>
          <a:xfrm xmlns:a="http://schemas.openxmlformats.org/drawingml/2006/main">
            <a:off x="7086600" y="4000500"/>
            <a:ext cx="4000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85" b="0">
                <a:solidFill>
                  <a:srgbClr val="5D6661"/>
                </a:solidFill>
                <a:latin typeface="Aptos"/>
                <a:ea typeface="Aptos"/>
                <a:cs typeface="Aptos"/>
              </a:defRPr>
            </a:pPr>
            <a:r>
              <a:rPr sz="885" b="0">
                <a:solidFill>
                  <a:srgbClr val="5D6661"/>
                </a:solidFill>
                <a:latin typeface="Aptos"/>
                <a:ea typeface="Aptos"/>
                <a:cs typeface="Aptos"/>
              </a:rPr>
              <a:t>Freeze image encoder, train a residual adapter over saved features, then combine VLM logits with the custom visual branch.</a:t>
            </a:r>
          </a:p>
        </p:txBody>
      </p:sp>
      <p:sp>
        <p:nvSpPr>
          <p:cNvPr id="32" name="">
            <a:extLst xmlns:a="http://schemas.openxmlformats.org/drawingml/2006/main">
              <a:ext uri="{FF2B5EF4-FFF2-40B4-BE49-F238E27FC236}">
                <a16:creationId xmlns:a16="http://schemas.microsoft.com/office/drawing/2014/main" id="{71A5ECD7-8DC6-4A0C-BAB3-45FB4C7FA226}"/>
              </a:ext>
            </a:extLst>
          </p:cNvPr>
          <p:cNvSpPr>
            <a:spLocks xmlns:a="http://schemas.openxmlformats.org/drawingml/2006/main" noGrp="1"/>
          </p:cNvSpPr>
          <p:nvPr/>
        </p:nvSpPr>
        <p:spPr>
          <a:xfrm xmlns:a="http://schemas.openxmlformats.org/drawingml/2006/main">
            <a:off x="514350" y="5219700"/>
            <a:ext cx="1112520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4DC"/>
            </a:solidFill>
            <a:prstDash val="solid"/>
          </a:ln>
        </p:spPr>
      </p:sp>
      <p:sp>
        <p:nvSpPr>
          <p:cNvPr id="33" name="">
            <a:extLst xmlns:a="http://schemas.openxmlformats.org/drawingml/2006/main">
              <a:ext uri="{FF2B5EF4-FFF2-40B4-BE49-F238E27FC236}">
                <a16:creationId xmlns:a16="http://schemas.microsoft.com/office/drawing/2014/main" id="{8880E6E2-CBDC-4251-BA93-D42D69FA7FEF}"/>
              </a:ext>
            </a:extLst>
          </p:cNvPr>
          <p:cNvSpPr>
            <a:spLocks xmlns:a="http://schemas.openxmlformats.org/drawingml/2006/main" noGrp="1"/>
          </p:cNvSpPr>
          <p:nvPr/>
        </p:nvSpPr>
        <p:spPr>
          <a:xfrm xmlns:a="http://schemas.openxmlformats.org/drawingml/2006/main">
            <a:off x="781050" y="5429250"/>
            <a:ext cx="2286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E5558"/>
                </a:solidFill>
                <a:latin typeface="Aptos"/>
                <a:ea typeface="Aptos"/>
                <a:cs typeface="Aptos"/>
              </a:defRPr>
            </a:pPr>
            <a:r>
              <a:rPr sz="975" b="1">
                <a:solidFill>
                  <a:srgbClr val="0E5558"/>
                </a:solidFill>
                <a:latin typeface="Aptos"/>
                <a:ea typeface="Aptos"/>
                <a:cs typeface="Aptos"/>
              </a:rPr>
              <a:t>Embedding persistence</a:t>
            </a:r>
          </a:p>
        </p:txBody>
      </p:sp>
      <p:sp>
        <p:nvSpPr>
          <p:cNvPr id="34" name="">
            <a:extLst xmlns:a="http://schemas.openxmlformats.org/drawingml/2006/main">
              <a:ext uri="{FF2B5EF4-FFF2-40B4-BE49-F238E27FC236}">
                <a16:creationId xmlns:a16="http://schemas.microsoft.com/office/drawing/2014/main" id="{9BE44328-012C-4512-A520-3476632B19A1}"/>
              </a:ext>
            </a:extLst>
          </p:cNvPr>
          <p:cNvSpPr>
            <a:spLocks xmlns:a="http://schemas.openxmlformats.org/drawingml/2006/main" noGrp="1"/>
          </p:cNvSpPr>
          <p:nvPr/>
        </p:nvSpPr>
        <p:spPr>
          <a:xfrm xmlns:a="http://schemas.openxmlformats.org/drawingml/2006/main">
            <a:off x="781050" y="5638800"/>
            <a:ext cx="7239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60" b="1">
                <a:solidFill>
                  <a:srgbClr val="16211F"/>
                </a:solidFill>
                <a:latin typeface="Aptos"/>
                <a:ea typeface="Aptos"/>
                <a:cs typeface="Aptos"/>
              </a:defRPr>
            </a:pPr>
            <a:r>
              <a:rPr sz="960" b="1">
                <a:solidFill>
                  <a:srgbClr val="16211F"/>
                </a:solidFill>
                <a:latin typeface="Aptos"/>
                <a:ea typeface="Aptos"/>
                <a:cs typeface="Aptos"/>
              </a:rPr>
              <a:t>Saved artifacts: CLIP and SigLIP2 image shards plus CLIP/SigLIP2 text features on Modal volume. Full CLIP cached scoring now runs in seconds after feature generation.</a:t>
            </a:r>
          </a:p>
        </p:txBody>
      </p:sp>
      <p:sp>
        <p:nvSpPr>
          <p:cNvPr id="35" name="">
            <a:extLst xmlns:a="http://schemas.openxmlformats.org/drawingml/2006/main">
              <a:ext uri="{FF2B5EF4-FFF2-40B4-BE49-F238E27FC236}">
                <a16:creationId xmlns:a16="http://schemas.microsoft.com/office/drawing/2014/main" id="{59E219ED-60C8-479D-ABC4-A37D80D81638}"/>
              </a:ext>
            </a:extLst>
          </p:cNvPr>
          <p:cNvSpPr>
            <a:spLocks xmlns:a="http://schemas.openxmlformats.org/drawingml/2006/main" noGrp="1"/>
          </p:cNvSpPr>
          <p:nvPr/>
        </p:nvSpPr>
        <p:spPr>
          <a:xfrm xmlns:a="http://schemas.openxmlformats.org/drawingml/2006/main">
            <a:off x="8553450" y="5391150"/>
            <a:ext cx="2781300" cy="533400"/>
          </a:xfrm>
          <a:prstGeom xmlns:a="http://schemas.openxmlformats.org/drawingml/2006/main" prst="rect">
            <a:avLst/>
          </a:prstGeom>
          <a:solidFill xmlns:a="http://schemas.openxmlformats.org/drawingml/2006/main">
            <a:srgbClr val="E9F2EE"/>
          </a:solidFill>
          <a:ln xmlns:a="http://schemas.openxmlformats.org/drawingml/2006/main" w="9525">
            <a:solidFill>
              <a:srgbClr val="C7DCD2"/>
            </a:solidFill>
            <a:prstDash val="solid"/>
          </a:ln>
        </p:spPr>
      </p:sp>
      <p:sp>
        <p:nvSpPr>
          <p:cNvPr id="36" name="">
            <a:extLst xmlns:a="http://schemas.openxmlformats.org/drawingml/2006/main">
              <a:ext uri="{FF2B5EF4-FFF2-40B4-BE49-F238E27FC236}">
                <a16:creationId xmlns:a16="http://schemas.microsoft.com/office/drawing/2014/main" id="{EDCBBD54-DBF5-47E5-8808-E692ABEE7B3A}"/>
              </a:ext>
            </a:extLst>
          </p:cNvPr>
          <p:cNvSpPr>
            <a:spLocks xmlns:a="http://schemas.openxmlformats.org/drawingml/2006/main" noGrp="1"/>
          </p:cNvSpPr>
          <p:nvPr/>
        </p:nvSpPr>
        <p:spPr>
          <a:xfrm xmlns:a="http://schemas.openxmlformats.org/drawingml/2006/main">
            <a:off x="8686800" y="5505450"/>
            <a:ext cx="25146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90" b="1">
                <a:solidFill>
                  <a:srgbClr val="16211F"/>
                </a:solidFill>
                <a:latin typeface="Aptos"/>
                <a:ea typeface="Aptos"/>
                <a:cs typeface="Aptos"/>
              </a:defRPr>
            </a:pPr>
            <a:r>
              <a:rPr sz="990" b="1">
                <a:solidFill>
                  <a:srgbClr val="16211F"/>
                </a:solidFill>
                <a:latin typeface="Aptos"/>
                <a:ea typeface="Aptos"/>
                <a:cs typeface="Aptos"/>
              </a:rPr>
              <a:t>M4 target: cleaned prompts + adapter/fusion on the official test split.</a:t>
            </a:r>
          </a:p>
        </p:txBody>
      </p:sp>
      <p:sp>
        <p:nvSpPr>
          <p:cNvPr id="37" name="">
            <a:extLst xmlns:a="http://schemas.openxmlformats.org/drawingml/2006/main">
              <a:ext uri="{FF2B5EF4-FFF2-40B4-BE49-F238E27FC236}">
                <a16:creationId xmlns:a16="http://schemas.microsoft.com/office/drawing/2014/main" id="{C64C0F73-6022-4779-AAA9-7F5705E77FE5}"/>
              </a:ext>
            </a:extLst>
          </p:cNvPr>
          <p:cNvSpPr>
            <a:spLocks xmlns:a="http://schemas.openxmlformats.org/drawingml/2006/main" noGrp="1"/>
          </p:cNvSpPr>
          <p:nvPr/>
        </p:nvSpPr>
        <p:spPr>
          <a:xfrm xmlns:a="http://schemas.openxmlformats.org/drawingml/2006/main">
            <a:off x="514350" y="6534150"/>
            <a:ext cx="10477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78817B"/>
                </a:solidFill>
                <a:latin typeface="Aptos"/>
                <a:ea typeface="Aptos"/>
                <a:cs typeface="Aptos"/>
              </a:defRPr>
            </a:pPr>
            <a:r>
              <a:rPr sz="713" b="0">
                <a:solidFill>
                  <a:srgbClr val="78817B"/>
                </a:solidFill>
                <a:latin typeface="Aptos"/>
                <a:ea typeface="Aptos"/>
                <a:cs typeface="Aptos"/>
              </a:rPr>
              <a:t>Next work: descriptor cleanup, cached adapter training on Modal, VLM/visual logit fusion, and expanded prompt error analysis.</a:t>
            </a:r>
          </a:p>
        </p:txBody>
      </p:sp>
    </p:spTree>
    <p:extLst>
      <p:ext uri="{BB962C8B-B14F-4D97-AF65-F5344CB8AC3E}">
        <p14:creationId xmlns:p14="http://schemas.microsoft.com/office/powerpoint/2010/main" val="9532768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2026-05-29T20:15:03.0670000Z</dcterms:created>
  <dcterms:modified xsi:type="dcterms:W3CDTF">2026-05-29T20:15:03.0670000Z</dcterms:modified>
</coreProperties>
</file>